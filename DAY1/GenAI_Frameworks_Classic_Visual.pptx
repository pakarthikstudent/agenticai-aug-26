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930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417320"/>
            <a:ext cx="1078992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FFFFFF"/>
                </a:solidFill>
              </a:rPr>
              <a:t>Generative AI Frameworks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788920"/>
            <a:ext cx="987552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100">
                <a:solidFill>
                  <a:srgbClr val="E0ECF7"/>
                </a:solidFill>
              </a:rPr>
              <a:t>LangChain • LangGraph • LlamaIndex • Agents • RAG • Multi-Agent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51960" y="4572000"/>
            <a:ext cx="3657600" cy="685800"/>
          </a:xfrm>
          <a:prstGeom prst="roundRect">
            <a:avLst/>
          </a:prstGeom>
          <a:solidFill>
            <a:srgbClr val="CC9933"/>
          </a:solidFill>
          <a:ln w="19050">
            <a:solidFill>
              <a:srgbClr val="CC99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19304B"/>
                </a:solidFill>
                <a:latin typeface="Aptos"/>
              </a:rPr>
              <a:t>Classic Visual Learning Deck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9304B"/>
                </a:solidFill>
                <a:latin typeface="Aptos Display"/>
              </a:rPr>
              <a:t>1. First Understand the Layers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697078"/>
                </a:solidFill>
                <a:latin typeface="Aptos"/>
              </a:rPr>
              <a:t>Models, runtimes, frameworks, and applications are different things.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325880"/>
            <a:ext cx="10972800" cy="32004"/>
          </a:xfrm>
          <a:prstGeom prst="rect">
            <a:avLst/>
          </a:prstGeom>
          <a:solidFill>
            <a:srgbClr val="CC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2103120" cy="914400"/>
          </a:xfrm>
          <a:prstGeom prst="roundRect">
            <a:avLst/>
          </a:prstGeom>
          <a:solidFill>
            <a:srgbClr val="E0ECF7"/>
          </a:solidFill>
          <a:ln w="19050">
            <a:solidFill>
              <a:srgbClr val="3060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19304B"/>
                </a:solidFill>
                <a:latin typeface="Aptos"/>
              </a:rPr>
              <a:t>GenAI
Application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834640" y="2377440"/>
            <a:ext cx="914399" cy="0"/>
          </a:xfrm>
          <a:prstGeom prst="line">
            <a:avLst/>
          </a:prstGeom>
          <a:ln w="27940">
            <a:solidFill>
              <a:srgbClr val="6970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3794760" y="1920240"/>
            <a:ext cx="2103120" cy="914400"/>
          </a:xfrm>
          <a:prstGeom prst="roundRect">
            <a:avLst/>
          </a:prstGeom>
          <a:solidFill>
            <a:srgbClr val="E0ECF7"/>
          </a:solidFill>
          <a:ln w="19050">
            <a:solidFill>
              <a:srgbClr val="3060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19304B"/>
                </a:solidFill>
                <a:latin typeface="Aptos"/>
              </a:rPr>
              <a:t>Framework
LangChain / LangGraph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897880" y="2377440"/>
            <a:ext cx="914400" cy="0"/>
          </a:xfrm>
          <a:prstGeom prst="line">
            <a:avLst/>
          </a:prstGeom>
          <a:ln w="27940">
            <a:solidFill>
              <a:srgbClr val="6970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6858000" y="1920240"/>
            <a:ext cx="2103120" cy="914400"/>
          </a:xfrm>
          <a:prstGeom prst="roundRect">
            <a:avLst/>
          </a:prstGeom>
          <a:solidFill>
            <a:srgbClr val="E0ECF7"/>
          </a:solidFill>
          <a:ln w="19050">
            <a:solidFill>
              <a:srgbClr val="3060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19304B"/>
                </a:solidFill>
                <a:latin typeface="Aptos"/>
              </a:rPr>
              <a:t>Model Access
Ollama / Groq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8961120" y="2377440"/>
            <a:ext cx="914400" cy="0"/>
          </a:xfrm>
          <a:prstGeom prst="line">
            <a:avLst/>
          </a:prstGeom>
          <a:ln w="27940">
            <a:solidFill>
              <a:srgbClr val="6970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9921240" y="1920240"/>
            <a:ext cx="1554480" cy="914400"/>
          </a:xfrm>
          <a:prstGeom prst="roundRect">
            <a:avLst/>
          </a:prstGeom>
          <a:solidFill>
            <a:srgbClr val="E0ECF7"/>
          </a:solidFill>
          <a:ln w="19050">
            <a:solidFill>
              <a:srgbClr val="3060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19304B"/>
                </a:solidFill>
                <a:latin typeface="Aptos"/>
              </a:rPr>
              <a:t>LLM
Gemma / Llama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3657600"/>
            <a:ext cx="10241280" cy="1554480"/>
          </a:xfrm>
          <a:prstGeom prst="roundRect">
            <a:avLst/>
          </a:prstGeom>
          <a:solidFill>
            <a:srgbClr val="F7F8FA"/>
          </a:solidFill>
          <a:ln>
            <a:solidFill>
              <a:srgbClr val="D7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37160"/>
          <a:lstStyle/>
          <a:p>
            <a:pPr algn="ctr"/>
            <a:r>
              <a:rPr sz="1700" b="1">
                <a:solidFill>
                  <a:srgbClr val="19304B"/>
                </a:solidFill>
              </a:rPr>
              <a:t>Mental model</a:t>
            </a:r>
          </a:p>
          <a:p>
            <a:pPr>
              <a:spcBef>
                <a:spcPts val="700"/>
              </a:spcBef>
              <a:defRPr sz="1300">
                <a:solidFill>
                  <a:srgbClr val="2D2D2D"/>
                </a:solidFill>
              </a:defRPr>
            </a:pPr>
            <a:r>
              <a:t>Models = the learned brain</a:t>
            </a:r>
          </a:p>
          <a:p>
            <a:pPr>
              <a:spcBef>
                <a:spcPts val="700"/>
              </a:spcBef>
              <a:defRPr sz="1300">
                <a:solidFill>
                  <a:srgbClr val="2D2D2D"/>
                </a:solidFill>
              </a:defRPr>
            </a:pPr>
            <a:r>
              <a:t>Runtimes/APIs = how we run or access models</a:t>
            </a:r>
          </a:p>
          <a:p>
            <a:pPr>
              <a:spcBef>
                <a:spcPts val="700"/>
              </a:spcBef>
              <a:defRPr sz="1300">
                <a:solidFill>
                  <a:srgbClr val="2D2D2D"/>
                </a:solidFill>
              </a:defRPr>
            </a:pPr>
            <a:r>
              <a:t>Frameworks = how we build applications around models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8992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97078"/>
                </a:solidFill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9304B"/>
                </a:solidFill>
                <a:latin typeface="Aptos Display"/>
              </a:rPr>
              <a:t>2. What Is LangChain?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697078"/>
                </a:solidFill>
                <a:latin typeface="Aptos"/>
              </a:rPr>
              <a:t>General-purpose building blocks for LLM applications.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325880"/>
            <a:ext cx="10972800" cy="32004"/>
          </a:xfrm>
          <a:prstGeom prst="rect">
            <a:avLst/>
          </a:prstGeom>
          <a:solidFill>
            <a:srgbClr val="CC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5029200" cy="3474720"/>
          </a:xfrm>
          <a:prstGeom prst="roundRect">
            <a:avLst/>
          </a:prstGeom>
          <a:solidFill>
            <a:srgbClr val="F7F8FA"/>
          </a:solidFill>
          <a:ln>
            <a:solidFill>
              <a:srgbClr val="D7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37160"/>
          <a:lstStyle/>
          <a:p>
            <a:pPr algn="ctr"/>
            <a:r>
              <a:rPr sz="1700" b="1">
                <a:solidFill>
                  <a:srgbClr val="19304B"/>
                </a:solidFill>
              </a:rPr>
              <a:t>LangChain connects</a:t>
            </a:r>
          </a:p>
          <a:p>
            <a:pPr>
              <a:spcBef>
                <a:spcPts val="700"/>
              </a:spcBef>
              <a:defRPr sz="1300">
                <a:solidFill>
                  <a:srgbClr val="2D2D2D"/>
                </a:solidFill>
              </a:defRPr>
            </a:pPr>
            <a:r>
              <a:t>LLMs</a:t>
            </a:r>
          </a:p>
          <a:p>
            <a:pPr>
              <a:spcBef>
                <a:spcPts val="700"/>
              </a:spcBef>
              <a:defRPr sz="1300">
                <a:solidFill>
                  <a:srgbClr val="2D2D2D"/>
                </a:solidFill>
              </a:defRPr>
            </a:pPr>
            <a:r>
              <a:t>Prompts</a:t>
            </a:r>
          </a:p>
          <a:p>
            <a:pPr>
              <a:spcBef>
                <a:spcPts val="700"/>
              </a:spcBef>
              <a:defRPr sz="1300">
                <a:solidFill>
                  <a:srgbClr val="2D2D2D"/>
                </a:solidFill>
              </a:defRPr>
            </a:pPr>
            <a:r>
              <a:t>Retrievers</a:t>
            </a:r>
          </a:p>
          <a:p>
            <a:pPr>
              <a:spcBef>
                <a:spcPts val="700"/>
              </a:spcBef>
              <a:defRPr sz="1300">
                <a:solidFill>
                  <a:srgbClr val="2D2D2D"/>
                </a:solidFill>
              </a:defRPr>
            </a:pPr>
            <a:r>
              <a:t>Tools</a:t>
            </a:r>
          </a:p>
          <a:p>
            <a:pPr>
              <a:spcBef>
                <a:spcPts val="700"/>
              </a:spcBef>
              <a:defRPr sz="1300">
                <a:solidFill>
                  <a:srgbClr val="2D2D2D"/>
                </a:solidFill>
              </a:defRPr>
            </a:pPr>
            <a:r>
              <a:t>Structured output</a:t>
            </a:r>
          </a:p>
          <a:p>
            <a:pPr>
              <a:spcBef>
                <a:spcPts val="700"/>
              </a:spcBef>
              <a:defRPr sz="1300">
                <a:solidFill>
                  <a:srgbClr val="2D2D2D"/>
                </a:solidFill>
              </a:defRPr>
            </a:pPr>
            <a:r>
              <a:t>Application logic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828800"/>
            <a:ext cx="2194560" cy="731520"/>
          </a:xfrm>
          <a:prstGeom prst="roundRect">
            <a:avLst/>
          </a:prstGeom>
          <a:solidFill>
            <a:srgbClr val="E0ECF7"/>
          </a:solidFill>
          <a:ln w="19050">
            <a:solidFill>
              <a:srgbClr val="3060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19304B"/>
                </a:solidFill>
                <a:latin typeface="Aptos"/>
              </a:rPr>
              <a:t>User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7498079" y="2560320"/>
            <a:ext cx="0" cy="502920"/>
          </a:xfrm>
          <a:prstGeom prst="line">
            <a:avLst/>
          </a:prstGeom>
          <a:ln w="27940">
            <a:solidFill>
              <a:srgbClr val="6970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5760720" y="3108960"/>
            <a:ext cx="3474720" cy="731520"/>
          </a:xfrm>
          <a:prstGeom prst="roundRect">
            <a:avLst/>
          </a:prstGeom>
          <a:solidFill>
            <a:srgbClr val="CC9933"/>
          </a:solidFill>
          <a:ln w="19050">
            <a:solidFill>
              <a:srgbClr val="CC99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19304B"/>
                </a:solidFill>
                <a:latin typeface="Aptos"/>
              </a:rPr>
              <a:t>LangChain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498079" y="3840480"/>
            <a:ext cx="0" cy="502920"/>
          </a:xfrm>
          <a:prstGeom prst="line">
            <a:avLst/>
          </a:prstGeom>
          <a:ln w="27940">
            <a:solidFill>
              <a:srgbClr val="6970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6400800" y="4389120"/>
            <a:ext cx="2194560" cy="731520"/>
          </a:xfrm>
          <a:prstGeom prst="roundRect">
            <a:avLst/>
          </a:prstGeom>
          <a:solidFill>
            <a:srgbClr val="E0ECF7"/>
          </a:solidFill>
          <a:ln w="19050">
            <a:solidFill>
              <a:srgbClr val="3060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19304B"/>
                </a:solidFill>
                <a:latin typeface="Aptos"/>
              </a:rPr>
              <a:t>LLM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326880" y="3108960"/>
            <a:ext cx="1828800" cy="731520"/>
          </a:xfrm>
          <a:prstGeom prst="roundRect">
            <a:avLst/>
          </a:prstGeom>
          <a:solidFill>
            <a:srgbClr val="E0ECF7"/>
          </a:solidFill>
          <a:ln w="19050">
            <a:solidFill>
              <a:srgbClr val="3060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19304B"/>
                </a:solidFill>
                <a:latin typeface="Aptos"/>
              </a:rPr>
              <a:t>Tools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9235440" y="3474720"/>
            <a:ext cx="91440" cy="0"/>
          </a:xfrm>
          <a:prstGeom prst="line">
            <a:avLst/>
          </a:prstGeom>
          <a:ln w="27940">
            <a:solidFill>
              <a:srgbClr val="6970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1078992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97078"/>
                </a:solidFill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9304B"/>
                </a:solidFill>
                <a:latin typeface="Aptos Display"/>
              </a:rPr>
              <a:t>3. What Is LangGraph?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697078"/>
                </a:solidFill>
                <a:latin typeface="Aptos"/>
              </a:rPr>
              <a:t>Best understood as a stateful workflow and agent orchestration layer.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325880"/>
            <a:ext cx="10972800" cy="32004"/>
          </a:xfrm>
          <a:prstGeom prst="rect">
            <a:avLst/>
          </a:prstGeom>
          <a:solidFill>
            <a:srgbClr val="CC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14400" y="2377440"/>
            <a:ext cx="1005840" cy="685800"/>
          </a:xfrm>
          <a:prstGeom prst="roundRect">
            <a:avLst/>
          </a:prstGeom>
          <a:solidFill>
            <a:srgbClr val="E0ECF7"/>
          </a:solidFill>
          <a:ln w="19050">
            <a:solidFill>
              <a:srgbClr val="3060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19304B"/>
                </a:solidFill>
                <a:latin typeface="Aptos"/>
              </a:rPr>
              <a:t>START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926080" y="2377440"/>
            <a:ext cx="1005840" cy="685800"/>
          </a:xfrm>
          <a:prstGeom prst="roundRect">
            <a:avLst/>
          </a:prstGeom>
          <a:solidFill>
            <a:srgbClr val="CC9933"/>
          </a:solidFill>
          <a:ln w="19050">
            <a:solidFill>
              <a:srgbClr val="CC99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19304B"/>
                </a:solidFill>
                <a:latin typeface="Aptos"/>
              </a:rPr>
              <a:t>Agent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937760" y="2377440"/>
            <a:ext cx="1005840" cy="685800"/>
          </a:xfrm>
          <a:prstGeom prst="roundRect">
            <a:avLst/>
          </a:prstGeom>
          <a:solidFill>
            <a:srgbClr val="E0ECF7"/>
          </a:solidFill>
          <a:ln w="19050">
            <a:solidFill>
              <a:srgbClr val="3060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19304B"/>
                </a:solidFill>
                <a:latin typeface="Aptos"/>
              </a:rPr>
              <a:t>Tool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949440" y="2377440"/>
            <a:ext cx="1005840" cy="685800"/>
          </a:xfrm>
          <a:prstGeom prst="roundRect">
            <a:avLst/>
          </a:prstGeom>
          <a:solidFill>
            <a:srgbClr val="E0ECF7"/>
          </a:solidFill>
          <a:ln w="19050">
            <a:solidFill>
              <a:srgbClr val="3060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19304B"/>
                </a:solidFill>
                <a:latin typeface="Aptos"/>
              </a:rPr>
              <a:t>Observe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961120" y="2377440"/>
            <a:ext cx="1005840" cy="685800"/>
          </a:xfrm>
          <a:prstGeom prst="roundRect">
            <a:avLst/>
          </a:prstGeom>
          <a:solidFill>
            <a:srgbClr val="CC9933"/>
          </a:solidFill>
          <a:ln w="19050">
            <a:solidFill>
              <a:srgbClr val="CC99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19304B"/>
                </a:solidFill>
                <a:latin typeface="Aptos"/>
              </a:rPr>
              <a:t>Agent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972800" y="2377440"/>
            <a:ext cx="1005840" cy="685800"/>
          </a:xfrm>
          <a:prstGeom prst="roundRect">
            <a:avLst/>
          </a:prstGeom>
          <a:solidFill>
            <a:srgbClr val="CC9933"/>
          </a:solidFill>
          <a:ln w="19050">
            <a:solidFill>
              <a:srgbClr val="CC99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19304B"/>
                </a:solidFill>
                <a:latin typeface="Aptos"/>
              </a:rPr>
              <a:t>END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920240" y="2724912"/>
            <a:ext cx="960120" cy="0"/>
          </a:xfrm>
          <a:prstGeom prst="line">
            <a:avLst/>
          </a:prstGeom>
          <a:ln w="27940">
            <a:solidFill>
              <a:srgbClr val="6970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3931920" y="2724912"/>
            <a:ext cx="960120" cy="0"/>
          </a:xfrm>
          <a:prstGeom prst="line">
            <a:avLst/>
          </a:prstGeom>
          <a:ln w="27940">
            <a:solidFill>
              <a:srgbClr val="6970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5943600" y="2724912"/>
            <a:ext cx="960120" cy="0"/>
          </a:xfrm>
          <a:prstGeom prst="line">
            <a:avLst/>
          </a:prstGeom>
          <a:ln w="27940">
            <a:solidFill>
              <a:srgbClr val="6970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7955279" y="2724912"/>
            <a:ext cx="960121" cy="0"/>
          </a:xfrm>
          <a:prstGeom prst="line">
            <a:avLst/>
          </a:prstGeom>
          <a:ln w="27940">
            <a:solidFill>
              <a:srgbClr val="6970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9966960" y="2724912"/>
            <a:ext cx="960120" cy="0"/>
          </a:xfrm>
          <a:prstGeom prst="line">
            <a:avLst/>
          </a:prstGeom>
          <a:ln w="27940">
            <a:solidFill>
              <a:srgbClr val="6970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914400" y="3886200"/>
            <a:ext cx="10058400" cy="1417320"/>
          </a:xfrm>
          <a:prstGeom prst="roundRect">
            <a:avLst/>
          </a:prstGeom>
          <a:solidFill>
            <a:srgbClr val="F7F8FA"/>
          </a:solidFill>
          <a:ln>
            <a:solidFill>
              <a:srgbClr val="D7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37160"/>
          <a:lstStyle/>
          <a:p>
            <a:pPr algn="ctr"/>
            <a:r>
              <a:rPr sz="1700" b="1">
                <a:solidFill>
                  <a:srgbClr val="19304B"/>
                </a:solidFill>
              </a:rPr>
              <a:t>Key idea</a:t>
            </a:r>
          </a:p>
          <a:p>
            <a:pPr>
              <a:spcBef>
                <a:spcPts val="700"/>
              </a:spcBef>
              <a:defRPr sz="1300">
                <a:solidFill>
                  <a:srgbClr val="2D2D2D"/>
                </a:solidFill>
              </a:defRPr>
            </a:pPr>
            <a:r>
              <a:t>State + nodes + edges + conditional routing + loops</a:t>
            </a:r>
          </a:p>
          <a:p>
            <a:pPr>
              <a:spcBef>
                <a:spcPts val="700"/>
              </a:spcBef>
              <a:defRPr sz="1300">
                <a:solidFill>
                  <a:srgbClr val="2D2D2D"/>
                </a:solidFill>
              </a:defRPr>
            </a:pPr>
            <a:r>
              <a:t>Useful when agent workflows become more complex than a simple chain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78992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97078"/>
                </a:solidFill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9304B"/>
                </a:solidFill>
                <a:latin typeface="Aptos Display"/>
              </a:rPr>
              <a:t>4. What Is LlamaIndex?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697078"/>
                </a:solidFill>
                <a:latin typeface="Aptos"/>
              </a:rPr>
              <a:t>A framework strongly focused on connecting LLMs to data.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325880"/>
            <a:ext cx="10972800" cy="32004"/>
          </a:xfrm>
          <a:prstGeom prst="rect">
            <a:avLst/>
          </a:prstGeom>
          <a:solidFill>
            <a:srgbClr val="CC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1828800"/>
            <a:ext cx="1828800" cy="822960"/>
          </a:xfrm>
          <a:prstGeom prst="roundRect">
            <a:avLst/>
          </a:prstGeom>
          <a:solidFill>
            <a:srgbClr val="E0ECF7"/>
          </a:solidFill>
          <a:ln w="19050">
            <a:solidFill>
              <a:srgbClr val="3060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19304B"/>
                </a:solidFill>
                <a:latin typeface="Aptos"/>
              </a:rPr>
              <a:t>Documents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651760" y="2240280"/>
            <a:ext cx="822960" cy="0"/>
          </a:xfrm>
          <a:prstGeom prst="line">
            <a:avLst/>
          </a:prstGeom>
          <a:ln w="27940">
            <a:solidFill>
              <a:srgbClr val="6970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3520440" y="1828800"/>
            <a:ext cx="1828800" cy="822960"/>
          </a:xfrm>
          <a:prstGeom prst="roundRect">
            <a:avLst/>
          </a:prstGeom>
          <a:solidFill>
            <a:srgbClr val="E0ECF7"/>
          </a:solidFill>
          <a:ln w="19050">
            <a:solidFill>
              <a:srgbClr val="3060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19304B"/>
                </a:solidFill>
                <a:latin typeface="Aptos"/>
              </a:rPr>
              <a:t>Parsing /
Chunking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349240" y="2240280"/>
            <a:ext cx="822960" cy="0"/>
          </a:xfrm>
          <a:prstGeom prst="line">
            <a:avLst/>
          </a:prstGeom>
          <a:ln w="27940">
            <a:solidFill>
              <a:srgbClr val="6970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6217920" y="1828800"/>
            <a:ext cx="1828800" cy="822960"/>
          </a:xfrm>
          <a:prstGeom prst="roundRect">
            <a:avLst/>
          </a:prstGeom>
          <a:solidFill>
            <a:srgbClr val="E0ECF7"/>
          </a:solidFill>
          <a:ln w="19050">
            <a:solidFill>
              <a:srgbClr val="3060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19304B"/>
                </a:solidFill>
                <a:latin typeface="Aptos"/>
              </a:rPr>
              <a:t>Index /
Retrieval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8046720" y="2240280"/>
            <a:ext cx="822960" cy="0"/>
          </a:xfrm>
          <a:prstGeom prst="line">
            <a:avLst/>
          </a:prstGeom>
          <a:ln w="27940">
            <a:solidFill>
              <a:srgbClr val="6970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8915400" y="1828800"/>
            <a:ext cx="1828800" cy="822960"/>
          </a:xfrm>
          <a:prstGeom prst="roundRect">
            <a:avLst/>
          </a:prstGeom>
          <a:solidFill>
            <a:srgbClr val="CC9933"/>
          </a:solidFill>
          <a:ln w="19050">
            <a:solidFill>
              <a:srgbClr val="CC99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19304B"/>
                </a:solidFill>
                <a:latin typeface="Aptos"/>
              </a:rPr>
              <a:t>LLM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9829800" y="2651760"/>
            <a:ext cx="0" cy="822960"/>
          </a:xfrm>
          <a:prstGeom prst="line">
            <a:avLst/>
          </a:prstGeom>
          <a:ln w="27940">
            <a:solidFill>
              <a:srgbClr val="6970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8915400" y="3520440"/>
            <a:ext cx="1828800" cy="822960"/>
          </a:xfrm>
          <a:prstGeom prst="roundRect">
            <a:avLst/>
          </a:prstGeom>
          <a:solidFill>
            <a:srgbClr val="E0ECF7"/>
          </a:solidFill>
          <a:ln w="19050">
            <a:solidFill>
              <a:srgbClr val="3060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19304B"/>
                </a:solidFill>
                <a:latin typeface="Aptos"/>
              </a:rPr>
              <a:t>Answer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4663440"/>
            <a:ext cx="10058400" cy="1005840"/>
          </a:xfrm>
          <a:prstGeom prst="roundRect">
            <a:avLst/>
          </a:prstGeom>
          <a:solidFill>
            <a:srgbClr val="F7F8FA"/>
          </a:solidFill>
          <a:ln>
            <a:solidFill>
              <a:srgbClr val="D7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37160"/>
          <a:lstStyle/>
          <a:p>
            <a:pPr algn="ctr"/>
            <a:r>
              <a:rPr sz="1700" b="1">
                <a:solidFill>
                  <a:srgbClr val="19304B"/>
                </a:solidFill>
              </a:rPr>
              <a:t>Mental model</a:t>
            </a:r>
          </a:p>
          <a:p>
            <a:pPr>
              <a:spcBef>
                <a:spcPts val="700"/>
              </a:spcBef>
              <a:defRPr sz="1300">
                <a:solidFill>
                  <a:srgbClr val="2D2D2D"/>
                </a:solidFill>
              </a:defRPr>
            </a:pPr>
            <a:r>
              <a:t>LlamaIndex = LLM + your data, with strong indexing and retrieval abstractions.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78992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97078"/>
                </a:solidFill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9304B"/>
                </a:solidFill>
                <a:latin typeface="Aptos Display"/>
              </a:rPr>
              <a:t>5. RAG: Where the Frameworks Become Useful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697078"/>
                </a:solidFill>
                <a:latin typeface="Aptos"/>
              </a:rPr>
              <a:t>Retrieval-Augmented Generation brings external knowledge into the prompt.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325880"/>
            <a:ext cx="10972800" cy="32004"/>
          </a:xfrm>
          <a:prstGeom prst="rect">
            <a:avLst/>
          </a:prstGeom>
          <a:solidFill>
            <a:srgbClr val="CC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2377440"/>
            <a:ext cx="1417320" cy="777240"/>
          </a:xfrm>
          <a:prstGeom prst="roundRect">
            <a:avLst/>
          </a:prstGeom>
          <a:solidFill>
            <a:srgbClr val="E0ECF7"/>
          </a:solidFill>
          <a:ln w="19050">
            <a:solidFill>
              <a:srgbClr val="3060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19304B"/>
                </a:solidFill>
                <a:latin typeface="Aptos"/>
              </a:rPr>
              <a:t>Question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148840" y="2761488"/>
            <a:ext cx="594360" cy="0"/>
          </a:xfrm>
          <a:prstGeom prst="line">
            <a:avLst/>
          </a:prstGeom>
          <a:ln w="27940">
            <a:solidFill>
              <a:srgbClr val="6970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2743200" y="2377440"/>
            <a:ext cx="1417320" cy="777240"/>
          </a:xfrm>
          <a:prstGeom prst="roundRect">
            <a:avLst/>
          </a:prstGeom>
          <a:solidFill>
            <a:srgbClr val="E0ECF7"/>
          </a:solidFill>
          <a:ln w="19050">
            <a:solidFill>
              <a:srgbClr val="3060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19304B"/>
                </a:solidFill>
                <a:latin typeface="Aptos"/>
              </a:rPr>
              <a:t>Embedding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160520" y="2761488"/>
            <a:ext cx="594360" cy="0"/>
          </a:xfrm>
          <a:prstGeom prst="line">
            <a:avLst/>
          </a:prstGeom>
          <a:ln w="27940">
            <a:solidFill>
              <a:srgbClr val="6970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4754880" y="2377440"/>
            <a:ext cx="1417320" cy="777240"/>
          </a:xfrm>
          <a:prstGeom prst="roundRect">
            <a:avLst/>
          </a:prstGeom>
          <a:solidFill>
            <a:srgbClr val="E0ECF7"/>
          </a:solidFill>
          <a:ln w="19050">
            <a:solidFill>
              <a:srgbClr val="3060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19304B"/>
                </a:solidFill>
                <a:latin typeface="Aptos"/>
              </a:rPr>
              <a:t>Vector DB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172200" y="2761488"/>
            <a:ext cx="594360" cy="0"/>
          </a:xfrm>
          <a:prstGeom prst="line">
            <a:avLst/>
          </a:prstGeom>
          <a:ln w="27940">
            <a:solidFill>
              <a:srgbClr val="6970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6766560" y="2377440"/>
            <a:ext cx="1417320" cy="777240"/>
          </a:xfrm>
          <a:prstGeom prst="roundRect">
            <a:avLst/>
          </a:prstGeom>
          <a:solidFill>
            <a:srgbClr val="E0ECF7"/>
          </a:solidFill>
          <a:ln w="19050">
            <a:solidFill>
              <a:srgbClr val="3060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19304B"/>
                </a:solidFill>
                <a:latin typeface="Aptos"/>
              </a:rPr>
              <a:t>Relevant chunks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8183880" y="2761488"/>
            <a:ext cx="594360" cy="0"/>
          </a:xfrm>
          <a:prstGeom prst="line">
            <a:avLst/>
          </a:prstGeom>
          <a:ln w="27940">
            <a:solidFill>
              <a:srgbClr val="6970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8778240" y="2377440"/>
            <a:ext cx="1417320" cy="777240"/>
          </a:xfrm>
          <a:prstGeom prst="roundRect">
            <a:avLst/>
          </a:prstGeom>
          <a:solidFill>
            <a:srgbClr val="CC9933"/>
          </a:solidFill>
          <a:ln w="19050">
            <a:solidFill>
              <a:srgbClr val="CC99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19304B"/>
                </a:solidFill>
                <a:latin typeface="Aptos"/>
              </a:rPr>
              <a:t>LLM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0195560" y="2761488"/>
            <a:ext cx="45720" cy="0"/>
          </a:xfrm>
          <a:prstGeom prst="line">
            <a:avLst/>
          </a:prstGeom>
          <a:ln w="27940">
            <a:solidFill>
              <a:srgbClr val="6970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10241280" y="2377440"/>
            <a:ext cx="1417320" cy="777240"/>
          </a:xfrm>
          <a:prstGeom prst="roundRect">
            <a:avLst/>
          </a:prstGeom>
          <a:solidFill>
            <a:srgbClr val="E0ECF7"/>
          </a:solidFill>
          <a:ln w="19050">
            <a:solidFill>
              <a:srgbClr val="3060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19304B"/>
                </a:solidFill>
                <a:latin typeface="Aptos"/>
              </a:rPr>
              <a:t>Answer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" y="4023360"/>
            <a:ext cx="10149840" cy="1325880"/>
          </a:xfrm>
          <a:prstGeom prst="roundRect">
            <a:avLst/>
          </a:prstGeom>
          <a:solidFill>
            <a:srgbClr val="F7F8FA"/>
          </a:solidFill>
          <a:ln>
            <a:solidFill>
              <a:srgbClr val="D7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37160"/>
          <a:lstStyle/>
          <a:p>
            <a:pPr algn="ctr"/>
            <a:r>
              <a:rPr sz="1700" b="1">
                <a:solidFill>
                  <a:srgbClr val="19304B"/>
                </a:solidFill>
              </a:rPr>
              <a:t>Important</a:t>
            </a:r>
          </a:p>
          <a:p>
            <a:pPr>
              <a:spcBef>
                <a:spcPts val="700"/>
              </a:spcBef>
              <a:defRPr sz="1300">
                <a:solidFill>
                  <a:srgbClr val="2D2D2D"/>
                </a:solidFill>
              </a:defRPr>
            </a:pPr>
            <a:r>
              <a:t>The LLM does not automatically know your private PDF, Excel, or Oracle data.</a:t>
            </a:r>
          </a:p>
          <a:p>
            <a:pPr>
              <a:spcBef>
                <a:spcPts val="700"/>
              </a:spcBef>
              <a:defRPr sz="1300">
                <a:solidFill>
                  <a:srgbClr val="2D2D2D"/>
                </a:solidFill>
              </a:defRPr>
            </a:pPr>
            <a:r>
              <a:t>RAG retrieves relevant information and supplies it as context before generation.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78992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97078"/>
                </a:solidFill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9304B"/>
                </a:solidFill>
                <a:latin typeface="Aptos Display"/>
              </a:rPr>
              <a:t>6. What Is an Agent?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697078"/>
                </a:solidFill>
                <a:latin typeface="Aptos"/>
              </a:rPr>
              <a:t>An Agent uses an LLM to decide what action to take toward a goal.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325880"/>
            <a:ext cx="10972800" cy="32004"/>
          </a:xfrm>
          <a:prstGeom prst="rect">
            <a:avLst/>
          </a:prstGeom>
          <a:solidFill>
            <a:srgbClr val="CC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0" y="1737360"/>
            <a:ext cx="3017520" cy="731520"/>
          </a:xfrm>
          <a:prstGeom prst="roundRect">
            <a:avLst/>
          </a:prstGeom>
          <a:solidFill>
            <a:srgbClr val="E0ECF7"/>
          </a:solidFill>
          <a:ln w="19050">
            <a:solidFill>
              <a:srgbClr val="3060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19304B"/>
                </a:solidFill>
                <a:latin typeface="Aptos"/>
              </a:rPr>
              <a:t>USER GOAL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080760" y="2468880"/>
            <a:ext cx="0" cy="502920"/>
          </a:xfrm>
          <a:prstGeom prst="line">
            <a:avLst/>
          </a:prstGeom>
          <a:ln w="27940">
            <a:solidFill>
              <a:srgbClr val="6970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4572000" y="3017520"/>
            <a:ext cx="3017520" cy="731520"/>
          </a:xfrm>
          <a:prstGeom prst="roundRect">
            <a:avLst/>
          </a:prstGeom>
          <a:solidFill>
            <a:srgbClr val="CC9933"/>
          </a:solidFill>
          <a:ln w="19050">
            <a:solidFill>
              <a:srgbClr val="CC99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19304B"/>
                </a:solidFill>
                <a:latin typeface="Aptos"/>
              </a:rPr>
              <a:t>AGENT / LLM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4297680"/>
            <a:ext cx="1463040" cy="685800"/>
          </a:xfrm>
          <a:prstGeom prst="roundRect">
            <a:avLst/>
          </a:prstGeom>
          <a:solidFill>
            <a:srgbClr val="E0ECF7"/>
          </a:solidFill>
          <a:ln w="19050">
            <a:solidFill>
              <a:srgbClr val="3060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19304B"/>
                </a:solidFill>
                <a:latin typeface="Aptos"/>
              </a:rPr>
              <a:t>Search</a:t>
            </a:r>
          </a:p>
        </p:txBody>
      </p:sp>
      <p:cxnSp>
        <p:nvCxnSpPr>
          <p:cNvPr id="10" name="Connector 9"/>
          <p:cNvCxnSpPr/>
          <p:nvPr/>
        </p:nvCxnSpPr>
        <p:spPr>
          <a:xfrm flipH="1">
            <a:off x="1645920" y="3749039"/>
            <a:ext cx="4434840" cy="548641"/>
          </a:xfrm>
          <a:prstGeom prst="line">
            <a:avLst/>
          </a:prstGeom>
          <a:ln w="27940">
            <a:solidFill>
              <a:srgbClr val="6970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3657600" y="4297680"/>
            <a:ext cx="1463040" cy="685800"/>
          </a:xfrm>
          <a:prstGeom prst="roundRect">
            <a:avLst/>
          </a:prstGeom>
          <a:solidFill>
            <a:srgbClr val="E0ECF7"/>
          </a:solidFill>
          <a:ln w="19050">
            <a:solidFill>
              <a:srgbClr val="3060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19304B"/>
                </a:solidFill>
                <a:latin typeface="Aptos"/>
              </a:rPr>
              <a:t>SQL</a:t>
            </a:r>
          </a:p>
        </p:txBody>
      </p:sp>
      <p:cxnSp>
        <p:nvCxnSpPr>
          <p:cNvPr id="12" name="Connector 11"/>
          <p:cNvCxnSpPr/>
          <p:nvPr/>
        </p:nvCxnSpPr>
        <p:spPr>
          <a:xfrm flipH="1">
            <a:off x="4389120" y="3749039"/>
            <a:ext cx="1691640" cy="548641"/>
          </a:xfrm>
          <a:prstGeom prst="line">
            <a:avLst/>
          </a:prstGeom>
          <a:ln w="27940">
            <a:solidFill>
              <a:srgbClr val="6970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8138160" y="4297680"/>
            <a:ext cx="1463040" cy="685800"/>
          </a:xfrm>
          <a:prstGeom prst="roundRect">
            <a:avLst/>
          </a:prstGeom>
          <a:solidFill>
            <a:srgbClr val="E0ECF7"/>
          </a:solidFill>
          <a:ln w="19050">
            <a:solidFill>
              <a:srgbClr val="3060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19304B"/>
                </a:solidFill>
                <a:latin typeface="Aptos"/>
              </a:rPr>
              <a:t>Python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080760" y="3749039"/>
            <a:ext cx="2788920" cy="548641"/>
          </a:xfrm>
          <a:prstGeom prst="line">
            <a:avLst/>
          </a:prstGeom>
          <a:ln w="27940">
            <a:solidFill>
              <a:srgbClr val="6970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10058400" y="4297680"/>
            <a:ext cx="1463040" cy="685800"/>
          </a:xfrm>
          <a:prstGeom prst="roundRect">
            <a:avLst/>
          </a:prstGeom>
          <a:solidFill>
            <a:srgbClr val="E0ECF7"/>
          </a:solidFill>
          <a:ln w="19050">
            <a:solidFill>
              <a:srgbClr val="3060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19304B"/>
                </a:solidFill>
                <a:latin typeface="Aptos"/>
              </a:rPr>
              <a:t>API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080760" y="3749039"/>
            <a:ext cx="4709160" cy="548641"/>
          </a:xfrm>
          <a:prstGeom prst="line">
            <a:avLst/>
          </a:prstGeom>
          <a:ln w="27940">
            <a:solidFill>
              <a:srgbClr val="6970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2743200" y="5303520"/>
            <a:ext cx="6400800" cy="685800"/>
          </a:xfrm>
          <a:prstGeom prst="roundRect">
            <a:avLst/>
          </a:prstGeom>
          <a:solidFill>
            <a:srgbClr val="F7F8FA"/>
          </a:solidFill>
          <a:ln>
            <a:solidFill>
              <a:srgbClr val="D7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37160"/>
          <a:lstStyle/>
          <a:p>
            <a:pPr algn="ctr"/>
            <a:r>
              <a:rPr sz="1700" b="1">
                <a:solidFill>
                  <a:srgbClr val="19304B"/>
                </a:solidFill>
              </a:rPr>
              <a:t>Key idea</a:t>
            </a:r>
          </a:p>
          <a:p>
            <a:pPr>
              <a:spcBef>
                <a:spcPts val="700"/>
              </a:spcBef>
              <a:defRPr sz="1300">
                <a:solidFill>
                  <a:srgbClr val="2D2D2D"/>
                </a:solidFill>
              </a:defRPr>
            </a:pPr>
            <a:r>
              <a:t>Agent = LLM + tools + decision/action loop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78992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97078"/>
                </a:solidFill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9304B"/>
                </a:solidFill>
                <a:latin typeface="Aptos Display"/>
              </a:rPr>
              <a:t>7. LLM vs Agent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697078"/>
                </a:solidFill>
                <a:latin typeface="Aptos"/>
              </a:rPr>
              <a:t>The LLM is usually the reasoning engine inside the Agent.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325880"/>
            <a:ext cx="10972800" cy="32004"/>
          </a:xfrm>
          <a:prstGeom prst="rect">
            <a:avLst/>
          </a:prstGeom>
          <a:solidFill>
            <a:srgbClr val="CC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5120640" cy="3383280"/>
          </a:xfrm>
          <a:prstGeom prst="roundRect">
            <a:avLst/>
          </a:prstGeom>
          <a:solidFill>
            <a:srgbClr val="F7F8FA"/>
          </a:solidFill>
          <a:ln>
            <a:solidFill>
              <a:srgbClr val="D7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37160"/>
          <a:lstStyle/>
          <a:p>
            <a:pPr algn="ctr"/>
            <a:r>
              <a:rPr sz="1700" b="1">
                <a:solidFill>
                  <a:srgbClr val="19304B"/>
                </a:solidFill>
              </a:rPr>
              <a:t>LLM</a:t>
            </a:r>
          </a:p>
          <a:p>
            <a:pPr>
              <a:spcBef>
                <a:spcPts val="700"/>
              </a:spcBef>
              <a:defRPr sz="1300">
                <a:solidFill>
                  <a:srgbClr val="2D2D2D"/>
                </a:solidFill>
              </a:defRPr>
            </a:pPr>
            <a:r>
              <a:t>Input → model → response</a:t>
            </a:r>
          </a:p>
          <a:p>
            <a:pPr>
              <a:spcBef>
                <a:spcPts val="700"/>
              </a:spcBef>
              <a:defRPr sz="1300">
                <a:solidFill>
                  <a:srgbClr val="2D2D2D"/>
                </a:solidFill>
              </a:defRPr>
            </a:pPr>
            <a:r>
              <a:t>Generates tokens</a:t>
            </a:r>
          </a:p>
          <a:p>
            <a:pPr>
              <a:spcBef>
                <a:spcPts val="700"/>
              </a:spcBef>
              <a:defRPr sz="1300">
                <a:solidFill>
                  <a:srgbClr val="2D2D2D"/>
                </a:solidFill>
              </a:defRPr>
            </a:pPr>
            <a:r>
              <a:t>No tools by default</a:t>
            </a:r>
          </a:p>
          <a:p>
            <a:pPr>
              <a:spcBef>
                <a:spcPts val="700"/>
              </a:spcBef>
              <a:defRPr sz="1300">
                <a:solidFill>
                  <a:srgbClr val="2D2D2D"/>
                </a:solidFill>
              </a:defRPr>
            </a:pPr>
            <a:r>
              <a:t>Usually a direct inference flow</a:t>
            </a:r>
          </a:p>
          <a:p>
            <a:pPr>
              <a:spcBef>
                <a:spcPts val="700"/>
              </a:spcBef>
              <a:defRPr sz="1300">
                <a:solidFill>
                  <a:srgbClr val="2D2D2D"/>
                </a:solidFill>
              </a:defRPr>
            </a:pPr>
            <a:r>
              <a:t>Example: Gemma 2B via Ollama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55080" y="1828800"/>
            <a:ext cx="5120640" cy="3383280"/>
          </a:xfrm>
          <a:prstGeom prst="roundRect">
            <a:avLst/>
          </a:prstGeom>
          <a:solidFill>
            <a:srgbClr val="F7F8FA"/>
          </a:solidFill>
          <a:ln>
            <a:solidFill>
              <a:srgbClr val="D7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37160"/>
          <a:lstStyle/>
          <a:p>
            <a:pPr algn="ctr"/>
            <a:r>
              <a:rPr sz="1700" b="1">
                <a:solidFill>
                  <a:srgbClr val="19304B"/>
                </a:solidFill>
              </a:rPr>
              <a:t>Agent</a:t>
            </a:r>
          </a:p>
          <a:p>
            <a:pPr>
              <a:spcBef>
                <a:spcPts val="700"/>
              </a:spcBef>
              <a:defRPr sz="1300">
                <a:solidFill>
                  <a:srgbClr val="2D2D2D"/>
                </a:solidFill>
              </a:defRPr>
            </a:pPr>
            <a:r>
              <a:t>Goal → decide → act → observe</a:t>
            </a:r>
          </a:p>
          <a:p>
            <a:pPr>
              <a:spcBef>
                <a:spcPts val="700"/>
              </a:spcBef>
              <a:defRPr sz="1300">
                <a:solidFill>
                  <a:srgbClr val="2D2D2D"/>
                </a:solidFill>
              </a:defRPr>
            </a:pPr>
            <a:r>
              <a:t>Can call tools</a:t>
            </a:r>
          </a:p>
          <a:p>
            <a:pPr>
              <a:spcBef>
                <a:spcPts val="700"/>
              </a:spcBef>
              <a:defRPr sz="1300">
                <a:solidFill>
                  <a:srgbClr val="2D2D2D"/>
                </a:solidFill>
              </a:defRPr>
            </a:pPr>
            <a:r>
              <a:t>Can loop until task is complete</a:t>
            </a:r>
          </a:p>
          <a:p>
            <a:pPr>
              <a:spcBef>
                <a:spcPts val="700"/>
              </a:spcBef>
              <a:defRPr sz="1300">
                <a:solidFill>
                  <a:srgbClr val="2D2D2D"/>
                </a:solidFill>
              </a:defRPr>
            </a:pPr>
            <a:r>
              <a:t>Uses LLM as the decision/reasoning engine</a:t>
            </a:r>
          </a:p>
          <a:p>
            <a:pPr>
              <a:spcBef>
                <a:spcPts val="700"/>
              </a:spcBef>
              <a:defRPr sz="1300">
                <a:solidFill>
                  <a:srgbClr val="2D2D2D"/>
                </a:solidFill>
              </a:defRPr>
            </a:pPr>
            <a:r>
              <a:t>Example: LangGraph/LangChain agent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97078"/>
                </a:solidFill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9304B"/>
                </a:solidFill>
                <a:latin typeface="Aptos Display"/>
              </a:rPr>
              <a:t>8. Agent Loop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697078"/>
                </a:solidFill>
                <a:latin typeface="Aptos"/>
              </a:rPr>
              <a:t>The loop is the heart of Agentic AI.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325880"/>
            <a:ext cx="10972800" cy="32004"/>
          </a:xfrm>
          <a:prstGeom prst="rect">
            <a:avLst/>
          </a:prstGeom>
          <a:solidFill>
            <a:srgbClr val="CC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2286000"/>
            <a:ext cx="1554480" cy="731520"/>
          </a:xfrm>
          <a:prstGeom prst="roundRect">
            <a:avLst/>
          </a:prstGeom>
          <a:solidFill>
            <a:srgbClr val="E0ECF7"/>
          </a:solidFill>
          <a:ln w="19050">
            <a:solidFill>
              <a:srgbClr val="3060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19304B"/>
                </a:solidFill>
                <a:latin typeface="Aptos"/>
              </a:rPr>
              <a:t>Goal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286000" y="2651760"/>
            <a:ext cx="640080" cy="0"/>
          </a:xfrm>
          <a:prstGeom prst="line">
            <a:avLst/>
          </a:prstGeom>
          <a:ln w="27940">
            <a:solidFill>
              <a:srgbClr val="6970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2971800" y="2286000"/>
            <a:ext cx="1554480" cy="731520"/>
          </a:xfrm>
          <a:prstGeom prst="roundRect">
            <a:avLst/>
          </a:prstGeom>
          <a:solidFill>
            <a:srgbClr val="E0ECF7"/>
          </a:solidFill>
          <a:ln w="19050">
            <a:solidFill>
              <a:srgbClr val="3060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19304B"/>
                </a:solidFill>
                <a:latin typeface="Aptos"/>
              </a:rPr>
              <a:t>LLM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526280" y="2651760"/>
            <a:ext cx="640080" cy="0"/>
          </a:xfrm>
          <a:prstGeom prst="line">
            <a:avLst/>
          </a:prstGeom>
          <a:ln w="27940">
            <a:solidFill>
              <a:srgbClr val="6970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5212080" y="2286000"/>
            <a:ext cx="1554480" cy="731520"/>
          </a:xfrm>
          <a:prstGeom prst="roundRect">
            <a:avLst/>
          </a:prstGeom>
          <a:solidFill>
            <a:srgbClr val="E0ECF7"/>
          </a:solidFill>
          <a:ln w="19050">
            <a:solidFill>
              <a:srgbClr val="3060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19304B"/>
                </a:solidFill>
                <a:latin typeface="Aptos"/>
              </a:rPr>
              <a:t>Tool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766560" y="2651760"/>
            <a:ext cx="640080" cy="0"/>
          </a:xfrm>
          <a:prstGeom prst="line">
            <a:avLst/>
          </a:prstGeom>
          <a:ln w="27940">
            <a:solidFill>
              <a:srgbClr val="6970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7452360" y="2286000"/>
            <a:ext cx="1554480" cy="731520"/>
          </a:xfrm>
          <a:prstGeom prst="roundRect">
            <a:avLst/>
          </a:prstGeom>
          <a:solidFill>
            <a:srgbClr val="E0ECF7"/>
          </a:solidFill>
          <a:ln w="19050">
            <a:solidFill>
              <a:srgbClr val="3060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19304B"/>
                </a:solidFill>
                <a:latin typeface="Aptos"/>
              </a:rPr>
              <a:t>Result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9006840" y="2651760"/>
            <a:ext cx="640080" cy="0"/>
          </a:xfrm>
          <a:prstGeom prst="line">
            <a:avLst/>
          </a:prstGeom>
          <a:ln w="27940">
            <a:solidFill>
              <a:srgbClr val="6970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9692640" y="2286000"/>
            <a:ext cx="1554480" cy="731520"/>
          </a:xfrm>
          <a:prstGeom prst="roundRect">
            <a:avLst/>
          </a:prstGeom>
          <a:solidFill>
            <a:srgbClr val="E0ECF7"/>
          </a:solidFill>
          <a:ln w="19050">
            <a:solidFill>
              <a:srgbClr val="3060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19304B"/>
                </a:solidFill>
                <a:latin typeface="Aptos"/>
              </a:rPr>
              <a:t>LLM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0469880" y="3017520"/>
            <a:ext cx="0" cy="1234440"/>
          </a:xfrm>
          <a:prstGeom prst="line">
            <a:avLst/>
          </a:prstGeom>
          <a:ln w="25400">
            <a:solidFill>
              <a:srgbClr val="6970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H="1">
            <a:off x="3749039" y="4251960"/>
            <a:ext cx="6720841" cy="0"/>
          </a:xfrm>
          <a:prstGeom prst="line">
            <a:avLst/>
          </a:prstGeom>
          <a:ln w="25400">
            <a:solidFill>
              <a:srgbClr val="6970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3749039" y="3017520"/>
            <a:ext cx="0" cy="1234440"/>
          </a:xfrm>
          <a:prstGeom prst="line">
            <a:avLst/>
          </a:prstGeom>
          <a:ln w="25400">
            <a:solidFill>
              <a:srgbClr val="6970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914400" y="4892040"/>
            <a:ext cx="10058400" cy="868680"/>
          </a:xfrm>
          <a:prstGeom prst="roundRect">
            <a:avLst/>
          </a:prstGeom>
          <a:solidFill>
            <a:srgbClr val="F7F8FA"/>
          </a:solidFill>
          <a:ln>
            <a:solidFill>
              <a:srgbClr val="D7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37160"/>
          <a:lstStyle/>
          <a:p>
            <a:pPr algn="ctr"/>
            <a:r>
              <a:rPr sz="1700" b="1">
                <a:solidFill>
                  <a:srgbClr val="19304B"/>
                </a:solidFill>
              </a:rPr>
              <a:t>Agentic pattern</a:t>
            </a:r>
          </a:p>
          <a:p>
            <a:pPr>
              <a:spcBef>
                <a:spcPts val="700"/>
              </a:spcBef>
              <a:defRPr sz="1300">
                <a:solidFill>
                  <a:srgbClr val="2D2D2D"/>
                </a:solidFill>
              </a:defRPr>
            </a:pPr>
            <a:r>
              <a:t>Observe → Decide → Act → Observe → Decide → … → Final answer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8992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97078"/>
                </a:solidFill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9304B"/>
                </a:solidFill>
                <a:latin typeface="Aptos Display"/>
              </a:rPr>
              <a:t>9. Multi-Agent Frameworks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697078"/>
                </a:solidFill>
                <a:latin typeface="Aptos"/>
              </a:rPr>
              <a:t>When one Agent is not enough, multiple specialized agents can collaborate.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325880"/>
            <a:ext cx="10972800" cy="32004"/>
          </a:xfrm>
          <a:prstGeom prst="rect">
            <a:avLst/>
          </a:prstGeom>
          <a:solidFill>
            <a:srgbClr val="CC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0" y="1645920"/>
            <a:ext cx="3017520" cy="731520"/>
          </a:xfrm>
          <a:prstGeom prst="roundRect">
            <a:avLst/>
          </a:prstGeom>
          <a:solidFill>
            <a:srgbClr val="CC9933"/>
          </a:solidFill>
          <a:ln w="19050">
            <a:solidFill>
              <a:srgbClr val="CC99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19304B"/>
                </a:solidFill>
                <a:latin typeface="Aptos"/>
              </a:rPr>
              <a:t>Manager / Coordinator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05840" y="3108960"/>
            <a:ext cx="1828800" cy="731520"/>
          </a:xfrm>
          <a:prstGeom prst="roundRect">
            <a:avLst/>
          </a:prstGeom>
          <a:solidFill>
            <a:srgbClr val="E0ECF7"/>
          </a:solidFill>
          <a:ln w="19050">
            <a:solidFill>
              <a:srgbClr val="3060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19304B"/>
                </a:solidFill>
                <a:latin typeface="Aptos"/>
              </a:rPr>
              <a:t>Researcher</a:t>
            </a:r>
          </a:p>
        </p:txBody>
      </p:sp>
      <p:cxnSp>
        <p:nvCxnSpPr>
          <p:cNvPr id="8" name="Connector 7"/>
          <p:cNvCxnSpPr/>
          <p:nvPr/>
        </p:nvCxnSpPr>
        <p:spPr>
          <a:xfrm flipH="1">
            <a:off x="1920240" y="2377440"/>
            <a:ext cx="4160520" cy="731520"/>
          </a:xfrm>
          <a:prstGeom prst="line">
            <a:avLst/>
          </a:prstGeom>
          <a:ln w="27940">
            <a:solidFill>
              <a:srgbClr val="6970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3657600" y="3108960"/>
            <a:ext cx="1828800" cy="731520"/>
          </a:xfrm>
          <a:prstGeom prst="roundRect">
            <a:avLst/>
          </a:prstGeom>
          <a:solidFill>
            <a:srgbClr val="E0ECF7"/>
          </a:solidFill>
          <a:ln w="19050">
            <a:solidFill>
              <a:srgbClr val="3060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19304B"/>
                </a:solidFill>
                <a:latin typeface="Aptos"/>
              </a:rPr>
              <a:t>Coder</a:t>
            </a:r>
          </a:p>
        </p:txBody>
      </p:sp>
      <p:cxnSp>
        <p:nvCxnSpPr>
          <p:cNvPr id="10" name="Connector 9"/>
          <p:cNvCxnSpPr/>
          <p:nvPr/>
        </p:nvCxnSpPr>
        <p:spPr>
          <a:xfrm flipH="1">
            <a:off x="4572000" y="2377440"/>
            <a:ext cx="1508760" cy="731520"/>
          </a:xfrm>
          <a:prstGeom prst="line">
            <a:avLst/>
          </a:prstGeom>
          <a:ln w="27940">
            <a:solidFill>
              <a:srgbClr val="6970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6400800" y="3108960"/>
            <a:ext cx="1828800" cy="731520"/>
          </a:xfrm>
          <a:prstGeom prst="roundRect">
            <a:avLst/>
          </a:prstGeom>
          <a:solidFill>
            <a:srgbClr val="E0ECF7"/>
          </a:solidFill>
          <a:ln w="19050">
            <a:solidFill>
              <a:srgbClr val="3060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19304B"/>
                </a:solidFill>
                <a:latin typeface="Aptos"/>
              </a:rPr>
              <a:t>Tester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080760" y="2377440"/>
            <a:ext cx="1234440" cy="731520"/>
          </a:xfrm>
          <a:prstGeom prst="line">
            <a:avLst/>
          </a:prstGeom>
          <a:ln w="27940">
            <a:solidFill>
              <a:srgbClr val="6970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9144000" y="3108960"/>
            <a:ext cx="1828800" cy="731520"/>
          </a:xfrm>
          <a:prstGeom prst="roundRect">
            <a:avLst/>
          </a:prstGeom>
          <a:solidFill>
            <a:srgbClr val="E0ECF7"/>
          </a:solidFill>
          <a:ln w="19050">
            <a:solidFill>
              <a:srgbClr val="3060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19304B"/>
                </a:solidFill>
                <a:latin typeface="Aptos"/>
              </a:rPr>
              <a:t>Writer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080760" y="2377440"/>
            <a:ext cx="3977640" cy="731520"/>
          </a:xfrm>
          <a:prstGeom prst="line">
            <a:avLst/>
          </a:prstGeom>
          <a:ln w="27940">
            <a:solidFill>
              <a:srgbClr val="6970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4572000" y="4709160"/>
            <a:ext cx="3017520" cy="731520"/>
          </a:xfrm>
          <a:prstGeom prst="roundRect">
            <a:avLst/>
          </a:prstGeom>
          <a:solidFill>
            <a:srgbClr val="E0ECF7"/>
          </a:solidFill>
          <a:ln w="19050">
            <a:solidFill>
              <a:srgbClr val="3060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19304B"/>
                </a:solidFill>
                <a:latin typeface="Aptos"/>
              </a:rPr>
              <a:t>Final Result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920240" y="3840480"/>
            <a:ext cx="4160520" cy="868680"/>
          </a:xfrm>
          <a:prstGeom prst="line">
            <a:avLst/>
          </a:prstGeom>
          <a:ln w="27940">
            <a:solidFill>
              <a:srgbClr val="6970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4572000" y="3840480"/>
            <a:ext cx="1508760" cy="868680"/>
          </a:xfrm>
          <a:prstGeom prst="line">
            <a:avLst/>
          </a:prstGeom>
          <a:ln w="27940">
            <a:solidFill>
              <a:srgbClr val="6970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H="1">
            <a:off x="6080760" y="3840480"/>
            <a:ext cx="1234440" cy="868680"/>
          </a:xfrm>
          <a:prstGeom prst="line">
            <a:avLst/>
          </a:prstGeom>
          <a:ln w="27940">
            <a:solidFill>
              <a:srgbClr val="6970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H="1">
            <a:off x="6080760" y="3840480"/>
            <a:ext cx="3977640" cy="868680"/>
          </a:xfrm>
          <a:prstGeom prst="line">
            <a:avLst/>
          </a:prstGeom>
          <a:ln w="27940">
            <a:solidFill>
              <a:srgbClr val="6970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914400" y="5623560"/>
            <a:ext cx="10058400" cy="502920"/>
          </a:xfrm>
          <a:prstGeom prst="roundRect">
            <a:avLst/>
          </a:prstGeom>
          <a:solidFill>
            <a:srgbClr val="F7F8FA"/>
          </a:solidFill>
          <a:ln>
            <a:solidFill>
              <a:srgbClr val="D7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37160"/>
          <a:lstStyle/>
          <a:p>
            <a:pPr algn="ctr"/>
            <a:r>
              <a:rPr sz="1700" b="1">
                <a:solidFill>
                  <a:srgbClr val="19304B"/>
                </a:solidFill>
              </a:rPr>
              <a:t>Examples</a:t>
            </a:r>
          </a:p>
          <a:p>
            <a:pPr>
              <a:spcBef>
                <a:spcPts val="700"/>
              </a:spcBef>
              <a:defRPr sz="1300">
                <a:solidFill>
                  <a:srgbClr val="2D2D2D"/>
                </a:solidFill>
              </a:defRPr>
            </a:pPr>
            <a:r>
              <a:t>CrewAI • AutoGen — useful for role-based or collaborative agent workflows.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78992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97078"/>
                </a:solidFill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9304B"/>
                </a:solidFill>
                <a:latin typeface="Aptos Display"/>
              </a:rPr>
              <a:t>10. Do Not Confuse Models, Runtimes, and Frameworks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697078"/>
                </a:solidFill>
                <a:latin typeface="Aptos"/>
              </a:rPr>
              <a:t>This distinction prevents a lot of GenAI confusion.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325880"/>
            <a:ext cx="10972800" cy="32004"/>
          </a:xfrm>
          <a:prstGeom prst="rect">
            <a:avLst/>
          </a:prstGeom>
          <a:solidFill>
            <a:srgbClr val="CC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3017520" cy="3657600"/>
          </a:xfrm>
          <a:prstGeom prst="roundRect">
            <a:avLst/>
          </a:prstGeom>
          <a:solidFill>
            <a:srgbClr val="F7F8FA"/>
          </a:solidFill>
          <a:ln>
            <a:solidFill>
              <a:srgbClr val="D7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37160"/>
          <a:lstStyle/>
          <a:p>
            <a:pPr algn="ctr"/>
            <a:r>
              <a:rPr sz="1700" b="1">
                <a:solidFill>
                  <a:srgbClr val="19304B"/>
                </a:solidFill>
              </a:rPr>
              <a:t>MODELS</a:t>
            </a:r>
          </a:p>
          <a:p>
            <a:pPr>
              <a:spcBef>
                <a:spcPts val="700"/>
              </a:spcBef>
              <a:defRPr sz="1300">
                <a:solidFill>
                  <a:srgbClr val="2D2D2D"/>
                </a:solidFill>
              </a:defRPr>
            </a:pPr>
            <a:r>
              <a:t>GPT</a:t>
            </a:r>
          </a:p>
          <a:p>
            <a:pPr>
              <a:spcBef>
                <a:spcPts val="700"/>
              </a:spcBef>
              <a:defRPr sz="1300">
                <a:solidFill>
                  <a:srgbClr val="2D2D2D"/>
                </a:solidFill>
              </a:defRPr>
            </a:pPr>
            <a:r>
              <a:t>Gemma</a:t>
            </a:r>
          </a:p>
          <a:p>
            <a:pPr>
              <a:spcBef>
                <a:spcPts val="700"/>
              </a:spcBef>
              <a:defRPr sz="1300">
                <a:solidFill>
                  <a:srgbClr val="2D2D2D"/>
                </a:solidFill>
              </a:defRPr>
            </a:pPr>
            <a:r>
              <a:t>Llama</a:t>
            </a:r>
          </a:p>
          <a:p>
            <a:pPr>
              <a:spcBef>
                <a:spcPts val="700"/>
              </a:spcBef>
              <a:defRPr sz="1300">
                <a:solidFill>
                  <a:srgbClr val="2D2D2D"/>
                </a:solidFill>
              </a:defRPr>
            </a:pPr>
            <a:r>
              <a:t>Mistral</a:t>
            </a:r>
          </a:p>
          <a:p>
            <a:pPr>
              <a:spcBef>
                <a:spcPts val="700"/>
              </a:spcBef>
              <a:defRPr sz="1300">
                <a:solidFill>
                  <a:srgbClr val="2D2D2D"/>
                </a:solidFill>
              </a:defRPr>
            </a:pPr>
            <a:r>
              <a:t>Qwen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60520" y="1828800"/>
            <a:ext cx="3017520" cy="3657600"/>
          </a:xfrm>
          <a:prstGeom prst="roundRect">
            <a:avLst/>
          </a:prstGeom>
          <a:solidFill>
            <a:srgbClr val="F7F8FA"/>
          </a:solidFill>
          <a:ln>
            <a:solidFill>
              <a:srgbClr val="D7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37160"/>
          <a:lstStyle/>
          <a:p>
            <a:pPr algn="ctr"/>
            <a:r>
              <a:rPr sz="1700" b="1">
                <a:solidFill>
                  <a:srgbClr val="19304B"/>
                </a:solidFill>
              </a:rPr>
              <a:t>RUNTIMES / APIs</a:t>
            </a:r>
          </a:p>
          <a:p>
            <a:pPr>
              <a:spcBef>
                <a:spcPts val="700"/>
              </a:spcBef>
              <a:defRPr sz="1300">
                <a:solidFill>
                  <a:srgbClr val="2D2D2D"/>
                </a:solidFill>
              </a:defRPr>
            </a:pPr>
            <a:r>
              <a:t>Ollama</a:t>
            </a:r>
          </a:p>
          <a:p>
            <a:pPr>
              <a:spcBef>
                <a:spcPts val="700"/>
              </a:spcBef>
              <a:defRPr sz="1300">
                <a:solidFill>
                  <a:srgbClr val="2D2D2D"/>
                </a:solidFill>
              </a:defRPr>
            </a:pPr>
            <a:r>
              <a:t>Groq</a:t>
            </a:r>
          </a:p>
          <a:p>
            <a:pPr>
              <a:spcBef>
                <a:spcPts val="700"/>
              </a:spcBef>
              <a:defRPr sz="1300">
                <a:solidFill>
                  <a:srgbClr val="2D2D2D"/>
                </a:solidFill>
              </a:defRPr>
            </a:pPr>
            <a:r>
              <a:t>OpenAI API</a:t>
            </a:r>
          </a:p>
          <a:p>
            <a:pPr>
              <a:spcBef>
                <a:spcPts val="700"/>
              </a:spcBef>
              <a:defRPr sz="1300">
                <a:solidFill>
                  <a:srgbClr val="2D2D2D"/>
                </a:solidFill>
              </a:defRPr>
            </a:pPr>
            <a:r>
              <a:t>Anthropic API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589520" y="1828800"/>
            <a:ext cx="3017520" cy="3657600"/>
          </a:xfrm>
          <a:prstGeom prst="roundRect">
            <a:avLst/>
          </a:prstGeom>
          <a:solidFill>
            <a:srgbClr val="F7F8FA"/>
          </a:solidFill>
          <a:ln>
            <a:solidFill>
              <a:srgbClr val="D7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37160"/>
          <a:lstStyle/>
          <a:p>
            <a:pPr algn="ctr"/>
            <a:r>
              <a:rPr sz="1700" b="1">
                <a:solidFill>
                  <a:srgbClr val="19304B"/>
                </a:solidFill>
              </a:rPr>
              <a:t>FRAMEWORKS</a:t>
            </a:r>
          </a:p>
          <a:p>
            <a:pPr>
              <a:spcBef>
                <a:spcPts val="700"/>
              </a:spcBef>
              <a:defRPr sz="1300">
                <a:solidFill>
                  <a:srgbClr val="2D2D2D"/>
                </a:solidFill>
              </a:defRPr>
            </a:pPr>
            <a:r>
              <a:t>LangChain</a:t>
            </a:r>
          </a:p>
          <a:p>
            <a:pPr>
              <a:spcBef>
                <a:spcPts val="700"/>
              </a:spcBef>
              <a:defRPr sz="1300">
                <a:solidFill>
                  <a:srgbClr val="2D2D2D"/>
                </a:solidFill>
              </a:defRPr>
            </a:pPr>
            <a:r>
              <a:t>LangGraph</a:t>
            </a:r>
          </a:p>
          <a:p>
            <a:pPr>
              <a:spcBef>
                <a:spcPts val="700"/>
              </a:spcBef>
              <a:defRPr sz="1300">
                <a:solidFill>
                  <a:srgbClr val="2D2D2D"/>
                </a:solidFill>
              </a:defRPr>
            </a:pPr>
            <a:r>
              <a:t>LlamaIndex</a:t>
            </a:r>
          </a:p>
          <a:p>
            <a:pPr>
              <a:spcBef>
                <a:spcPts val="700"/>
              </a:spcBef>
              <a:defRPr sz="1300">
                <a:solidFill>
                  <a:srgbClr val="2D2D2D"/>
                </a:solidFill>
              </a:defRPr>
            </a:pPr>
            <a:r>
              <a:t>Haystack</a:t>
            </a:r>
          </a:p>
          <a:p>
            <a:pPr>
              <a:spcBef>
                <a:spcPts val="700"/>
              </a:spcBef>
              <a:defRPr sz="1300">
                <a:solidFill>
                  <a:srgbClr val="2D2D2D"/>
                </a:solidFill>
              </a:defRPr>
            </a:pPr>
            <a:r>
              <a:t>CrewAI</a:t>
            </a:r>
          </a:p>
          <a:p>
            <a:pPr>
              <a:spcBef>
                <a:spcPts val="700"/>
              </a:spcBef>
              <a:defRPr sz="1300">
                <a:solidFill>
                  <a:srgbClr val="2D2D2D"/>
                </a:solidFill>
              </a:defRPr>
            </a:pPr>
            <a:r>
              <a:t>AutoGen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97078"/>
                </a:solidFill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9304B"/>
                </a:solidFill>
                <a:latin typeface="Aptos Display"/>
              </a:rPr>
              <a:t>11. Your Current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697078"/>
                </a:solidFill>
                <a:latin typeface="Aptos"/>
              </a:rPr>
              <a:t>How the technologies you are learning fit together.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325880"/>
            <a:ext cx="10972800" cy="32004"/>
          </a:xfrm>
          <a:prstGeom prst="rect">
            <a:avLst/>
          </a:prstGeom>
          <a:solidFill>
            <a:srgbClr val="CC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2011680" cy="731520"/>
          </a:xfrm>
          <a:prstGeom prst="roundRect">
            <a:avLst/>
          </a:prstGeom>
          <a:solidFill>
            <a:srgbClr val="E0ECF7"/>
          </a:solidFill>
          <a:ln w="19050">
            <a:solidFill>
              <a:srgbClr val="3060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19304B"/>
                </a:solidFill>
                <a:latin typeface="Aptos"/>
              </a:rPr>
              <a:t>Your Python App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743200" y="2194560"/>
            <a:ext cx="731520" cy="0"/>
          </a:xfrm>
          <a:prstGeom prst="line">
            <a:avLst/>
          </a:prstGeom>
          <a:ln w="27940">
            <a:solidFill>
              <a:srgbClr val="6970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3520440" y="1828800"/>
            <a:ext cx="1828800" cy="731520"/>
          </a:xfrm>
          <a:prstGeom prst="roundRect">
            <a:avLst/>
          </a:prstGeom>
          <a:solidFill>
            <a:srgbClr val="E0ECF7"/>
          </a:solidFill>
          <a:ln w="19050">
            <a:solidFill>
              <a:srgbClr val="3060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19304B"/>
                </a:solidFill>
                <a:latin typeface="Aptos"/>
              </a:rPr>
              <a:t>LangChain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349240" y="2194560"/>
            <a:ext cx="731520" cy="0"/>
          </a:xfrm>
          <a:prstGeom prst="line">
            <a:avLst/>
          </a:prstGeom>
          <a:ln w="27940">
            <a:solidFill>
              <a:srgbClr val="6970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6126480" y="1828800"/>
            <a:ext cx="1828800" cy="731520"/>
          </a:xfrm>
          <a:prstGeom prst="roundRect">
            <a:avLst/>
          </a:prstGeom>
          <a:solidFill>
            <a:srgbClr val="E0ECF7"/>
          </a:solidFill>
          <a:ln w="19050">
            <a:solidFill>
              <a:srgbClr val="3060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19304B"/>
                </a:solidFill>
                <a:latin typeface="Aptos"/>
              </a:rPr>
              <a:t>LangGraph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955279" y="2194560"/>
            <a:ext cx="731521" cy="0"/>
          </a:xfrm>
          <a:prstGeom prst="line">
            <a:avLst/>
          </a:prstGeom>
          <a:ln w="27940">
            <a:solidFill>
              <a:srgbClr val="6970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8732520" y="1828800"/>
            <a:ext cx="1828800" cy="731520"/>
          </a:xfrm>
          <a:prstGeom prst="roundRect">
            <a:avLst/>
          </a:prstGeom>
          <a:solidFill>
            <a:srgbClr val="E0ECF7"/>
          </a:solidFill>
          <a:ln w="19050">
            <a:solidFill>
              <a:srgbClr val="3060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19304B"/>
                </a:solidFill>
                <a:latin typeface="Aptos"/>
              </a:rPr>
              <a:t>Agent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9646920" y="2560320"/>
            <a:ext cx="0" cy="777240"/>
          </a:xfrm>
          <a:prstGeom prst="line">
            <a:avLst/>
          </a:prstGeom>
          <a:ln w="27940">
            <a:solidFill>
              <a:srgbClr val="6970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8732520" y="3383280"/>
            <a:ext cx="1828800" cy="731520"/>
          </a:xfrm>
          <a:prstGeom prst="roundRect">
            <a:avLst/>
          </a:prstGeom>
          <a:solidFill>
            <a:srgbClr val="E0ECF7"/>
          </a:solidFill>
          <a:ln w="19050">
            <a:solidFill>
              <a:srgbClr val="3060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19304B"/>
                </a:solidFill>
                <a:latin typeface="Aptos"/>
              </a:rPr>
              <a:t>Tools</a:t>
            </a:r>
          </a:p>
        </p:txBody>
      </p:sp>
      <p:cxnSp>
        <p:nvCxnSpPr>
          <p:cNvPr id="15" name="Connector 14"/>
          <p:cNvCxnSpPr/>
          <p:nvPr/>
        </p:nvCxnSpPr>
        <p:spPr>
          <a:xfrm flipH="1">
            <a:off x="7132320" y="3749039"/>
            <a:ext cx="1600200" cy="0"/>
          </a:xfrm>
          <a:prstGeom prst="line">
            <a:avLst/>
          </a:prstGeom>
          <a:ln w="27940">
            <a:solidFill>
              <a:srgbClr val="6970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5486400" y="3383280"/>
            <a:ext cx="1645920" cy="731520"/>
          </a:xfrm>
          <a:prstGeom prst="roundRect">
            <a:avLst/>
          </a:prstGeom>
          <a:solidFill>
            <a:srgbClr val="E0ECF7"/>
          </a:solidFill>
          <a:ln w="19050">
            <a:solidFill>
              <a:srgbClr val="3060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19304B"/>
                </a:solidFill>
                <a:latin typeface="Aptos"/>
              </a:rPr>
              <a:t>RAG</a:t>
            </a:r>
          </a:p>
        </p:txBody>
      </p:sp>
      <p:cxnSp>
        <p:nvCxnSpPr>
          <p:cNvPr id="17" name="Connector 16"/>
          <p:cNvCxnSpPr/>
          <p:nvPr/>
        </p:nvCxnSpPr>
        <p:spPr>
          <a:xfrm flipH="1">
            <a:off x="3840480" y="3749039"/>
            <a:ext cx="1645920" cy="0"/>
          </a:xfrm>
          <a:prstGeom prst="line">
            <a:avLst/>
          </a:prstGeom>
          <a:ln w="27940">
            <a:solidFill>
              <a:srgbClr val="6970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2560320" y="3383280"/>
            <a:ext cx="3017520" cy="731520"/>
          </a:xfrm>
          <a:prstGeom prst="roundRect">
            <a:avLst/>
          </a:prstGeom>
          <a:solidFill>
            <a:srgbClr val="E0ECF7"/>
          </a:solidFill>
          <a:ln w="19050">
            <a:solidFill>
              <a:srgbClr val="3060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19304B"/>
                </a:solidFill>
                <a:latin typeface="Aptos"/>
              </a:rPr>
              <a:t>FAISS / Oracle 23ai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132320" y="3749039"/>
            <a:ext cx="0" cy="822961"/>
          </a:xfrm>
          <a:prstGeom prst="line">
            <a:avLst/>
          </a:prstGeom>
          <a:ln w="27940">
            <a:solidFill>
              <a:srgbClr val="6970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5760720" y="4617720"/>
            <a:ext cx="2743200" cy="731520"/>
          </a:xfrm>
          <a:prstGeom prst="roundRect">
            <a:avLst/>
          </a:prstGeom>
          <a:solidFill>
            <a:srgbClr val="CC9933"/>
          </a:solidFill>
          <a:ln w="19050">
            <a:solidFill>
              <a:srgbClr val="CC99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19304B"/>
                </a:solidFill>
                <a:latin typeface="Aptos"/>
              </a:rPr>
              <a:t>Gemma / Llama / GPT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14400" y="5532120"/>
            <a:ext cx="10058400" cy="594360"/>
          </a:xfrm>
          <a:prstGeom prst="roundRect">
            <a:avLst/>
          </a:prstGeom>
          <a:solidFill>
            <a:srgbClr val="F7F8FA"/>
          </a:solidFill>
          <a:ln>
            <a:solidFill>
              <a:srgbClr val="D7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37160"/>
          <a:lstStyle/>
          <a:p>
            <a:pPr algn="ctr"/>
            <a:r>
              <a:rPr sz="1700" b="1">
                <a:solidFill>
                  <a:srgbClr val="19304B"/>
                </a:solidFill>
              </a:rPr>
              <a:t>Example stack</a:t>
            </a:r>
          </a:p>
          <a:p>
            <a:pPr>
              <a:spcBef>
                <a:spcPts val="700"/>
              </a:spcBef>
              <a:defRPr sz="1300">
                <a:solidFill>
                  <a:srgbClr val="2D2D2D"/>
                </a:solidFill>
              </a:defRPr>
            </a:pPr>
            <a:r>
              <a:t>LangChain + Ollama + Gemma 2B + FAISS/Oracle 23ai + LangGraph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78992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97078"/>
                </a:solidFill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9304B"/>
                </a:solidFill>
                <a:latin typeface="Aptos Display"/>
              </a:rPr>
              <a:t>12. Recommended Learning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697078"/>
                </a:solidFill>
                <a:latin typeface="Aptos"/>
              </a:rPr>
              <a:t>A practical sequence for becoming strong in GenAI application development.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325880"/>
            <a:ext cx="10972800" cy="32004"/>
          </a:xfrm>
          <a:prstGeom prst="rect">
            <a:avLst/>
          </a:prstGeom>
          <a:solidFill>
            <a:srgbClr val="CC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2286000" cy="914400"/>
          </a:xfrm>
          <a:prstGeom prst="roundRect">
            <a:avLst/>
          </a:prstGeom>
          <a:solidFill>
            <a:srgbClr val="E0ECF7"/>
          </a:solidFill>
          <a:ln w="19050">
            <a:solidFill>
              <a:srgbClr val="3060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19304B"/>
                </a:solidFill>
                <a:latin typeface="Aptos"/>
              </a:rPr>
              <a:t>1. LLM + LangChain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017520" y="2286000"/>
            <a:ext cx="438912" cy="0"/>
          </a:xfrm>
          <a:prstGeom prst="line">
            <a:avLst/>
          </a:prstGeom>
          <a:ln w="27940">
            <a:solidFill>
              <a:srgbClr val="6970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3520439" y="1828800"/>
            <a:ext cx="2286000" cy="914400"/>
          </a:xfrm>
          <a:prstGeom prst="roundRect">
            <a:avLst/>
          </a:prstGeom>
          <a:solidFill>
            <a:srgbClr val="E0ECF7"/>
          </a:solidFill>
          <a:ln w="19050">
            <a:solidFill>
              <a:srgbClr val="3060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19304B"/>
                </a:solidFill>
                <a:latin typeface="Aptos"/>
              </a:rPr>
              <a:t>2. RAG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806440" y="2286000"/>
            <a:ext cx="438912" cy="0"/>
          </a:xfrm>
          <a:prstGeom prst="line">
            <a:avLst/>
          </a:prstGeom>
          <a:ln w="27940">
            <a:solidFill>
              <a:srgbClr val="6970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6309359" y="1828800"/>
            <a:ext cx="2286000" cy="914400"/>
          </a:xfrm>
          <a:prstGeom prst="roundRect">
            <a:avLst/>
          </a:prstGeom>
          <a:solidFill>
            <a:srgbClr val="E0ECF7"/>
          </a:solidFill>
          <a:ln w="19050">
            <a:solidFill>
              <a:srgbClr val="3060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19304B"/>
                </a:solidFill>
                <a:latin typeface="Aptos"/>
              </a:rPr>
              <a:t>3. Tools / Function Calling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8595359" y="2286000"/>
            <a:ext cx="438913" cy="0"/>
          </a:xfrm>
          <a:prstGeom prst="line">
            <a:avLst/>
          </a:prstGeom>
          <a:ln w="27940">
            <a:solidFill>
              <a:srgbClr val="6970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9098280" y="1828800"/>
            <a:ext cx="2286000" cy="914400"/>
          </a:xfrm>
          <a:prstGeom prst="roundRect">
            <a:avLst/>
          </a:prstGeom>
          <a:solidFill>
            <a:srgbClr val="CC9933"/>
          </a:solidFill>
          <a:ln w="19050">
            <a:solidFill>
              <a:srgbClr val="CC99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19304B"/>
                </a:solidFill>
                <a:latin typeface="Aptos"/>
              </a:rPr>
              <a:t>4. Agents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657600"/>
            <a:ext cx="2286000" cy="914400"/>
          </a:xfrm>
          <a:prstGeom prst="roundRect">
            <a:avLst/>
          </a:prstGeom>
          <a:solidFill>
            <a:srgbClr val="CC9933"/>
          </a:solidFill>
          <a:ln w="19050">
            <a:solidFill>
              <a:srgbClr val="CC99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19304B"/>
                </a:solidFill>
                <a:latin typeface="Aptos"/>
              </a:rPr>
              <a:t>5. LangGraph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017520" y="4114800"/>
            <a:ext cx="438912" cy="0"/>
          </a:xfrm>
          <a:prstGeom prst="line">
            <a:avLst/>
          </a:prstGeom>
          <a:ln w="27940">
            <a:solidFill>
              <a:srgbClr val="6970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3520439" y="3657600"/>
            <a:ext cx="2286000" cy="914400"/>
          </a:xfrm>
          <a:prstGeom prst="roundRect">
            <a:avLst/>
          </a:prstGeom>
          <a:solidFill>
            <a:srgbClr val="E0ECF7"/>
          </a:solidFill>
          <a:ln w="19050">
            <a:solidFill>
              <a:srgbClr val="3060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19304B"/>
                </a:solidFill>
                <a:latin typeface="Aptos"/>
              </a:rPr>
              <a:t>6. Multi-Agent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806440" y="4114800"/>
            <a:ext cx="438912" cy="0"/>
          </a:xfrm>
          <a:prstGeom prst="line">
            <a:avLst/>
          </a:prstGeom>
          <a:ln w="27940">
            <a:solidFill>
              <a:srgbClr val="6970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6309359" y="3657600"/>
            <a:ext cx="2286000" cy="914400"/>
          </a:xfrm>
          <a:prstGeom prst="roundRect">
            <a:avLst/>
          </a:prstGeom>
          <a:solidFill>
            <a:srgbClr val="E0ECF7"/>
          </a:solidFill>
          <a:ln w="19050">
            <a:solidFill>
              <a:srgbClr val="3060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19304B"/>
                </a:solidFill>
                <a:latin typeface="Aptos"/>
              </a:rPr>
              <a:t>7. Advanced orchestration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4400" y="5486400"/>
            <a:ext cx="10058400" cy="594360"/>
          </a:xfrm>
          <a:prstGeom prst="roundRect">
            <a:avLst/>
          </a:prstGeom>
          <a:solidFill>
            <a:srgbClr val="F7F8FA"/>
          </a:solidFill>
          <a:ln>
            <a:solidFill>
              <a:srgbClr val="D7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37160"/>
          <a:lstStyle/>
          <a:p>
            <a:pPr algn="ctr"/>
            <a:r>
              <a:rPr sz="1700" b="1">
                <a:solidFill>
                  <a:srgbClr val="19304B"/>
                </a:solidFill>
              </a:rPr>
              <a:t>Suggested priority</a:t>
            </a:r>
          </a:p>
          <a:p>
            <a:pPr>
              <a:spcBef>
                <a:spcPts val="700"/>
              </a:spcBef>
              <a:defRPr sz="1300">
                <a:solidFill>
                  <a:srgbClr val="2D2D2D"/>
                </a:solidFill>
              </a:defRPr>
            </a:pPr>
            <a:r>
              <a:t>Go deep on LangChain + LangGraph + RAG first; learn other frameworks comparatively.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8992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97078"/>
                </a:solidFill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930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09728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FFFFFF"/>
                </a:solidFill>
              </a:rPr>
              <a:t>One-Line Mental Models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965960"/>
            <a:ext cx="2103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500">
                <a:solidFill>
                  <a:srgbClr val="CC9933"/>
                </a:solidFill>
              </a:rPr>
              <a:t>LLM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71800" y="1965960"/>
            <a:ext cx="8046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>
                <a:solidFill>
                  <a:srgbClr val="FFFFFF"/>
                </a:solidFill>
              </a:rPr>
              <a:t>Brain that predicts/generates tokens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496312"/>
            <a:ext cx="2103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500">
                <a:solidFill>
                  <a:srgbClr val="CC9933"/>
                </a:solidFill>
              </a:rPr>
              <a:t>LangChain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71800" y="2496312"/>
            <a:ext cx="8046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>
                <a:solidFill>
                  <a:srgbClr val="FFFFFF"/>
                </a:solidFill>
              </a:rPr>
              <a:t>Building blocks for LLM applications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026663"/>
            <a:ext cx="2103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500">
                <a:solidFill>
                  <a:srgbClr val="CC9933"/>
                </a:solidFill>
              </a:rPr>
              <a:t>LangGraph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71800" y="3026663"/>
            <a:ext cx="8046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>
                <a:solidFill>
                  <a:srgbClr val="FFFFFF"/>
                </a:solidFill>
              </a:rPr>
              <a:t>Stateful agent/workflow orchestration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557015"/>
            <a:ext cx="2103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500">
                <a:solidFill>
                  <a:srgbClr val="CC9933"/>
                </a:solidFill>
              </a:rPr>
              <a:t>LlamaIndex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71800" y="3557015"/>
            <a:ext cx="8046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>
                <a:solidFill>
                  <a:srgbClr val="FFFFFF"/>
                </a:solidFill>
              </a:rPr>
              <a:t>LLM + your data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087368"/>
            <a:ext cx="2103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500">
                <a:solidFill>
                  <a:srgbClr val="CC9933"/>
                </a:solidFill>
              </a:rPr>
              <a:t>RAG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71800" y="4087368"/>
            <a:ext cx="8046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>
                <a:solidFill>
                  <a:srgbClr val="FFFFFF"/>
                </a:solidFill>
              </a:rPr>
              <a:t>Retrieve knowledge, then generate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617720"/>
            <a:ext cx="2103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500">
                <a:solidFill>
                  <a:srgbClr val="CC9933"/>
                </a:solidFill>
              </a:rPr>
              <a:t>Agent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71800" y="4617720"/>
            <a:ext cx="8046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>
                <a:solidFill>
                  <a:srgbClr val="FFFFFF"/>
                </a:solidFill>
              </a:rPr>
              <a:t>LLM + tools + action loop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5148071"/>
            <a:ext cx="2103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500">
                <a:solidFill>
                  <a:srgbClr val="CC9933"/>
                </a:solidFill>
              </a:rPr>
              <a:t>CrewAI / AutoGen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71800" y="5148071"/>
            <a:ext cx="8046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>
                <a:solidFill>
                  <a:srgbClr val="FFFFFF"/>
                </a:solidFill>
              </a:rPr>
              <a:t>Multiple agents collaborating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