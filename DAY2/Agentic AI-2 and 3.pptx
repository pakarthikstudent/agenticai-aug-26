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309" r:id="rId9"/>
    <p:sldId id="310" r:id="rId10"/>
    <p:sldId id="311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292" r:id="rId22"/>
    <p:sldId id="312" r:id="rId23"/>
    <p:sldId id="313" r:id="rId24"/>
    <p:sldId id="314" r:id="rId25"/>
    <p:sldId id="316" r:id="rId26"/>
    <p:sldId id="31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3E611-87FE-4378-8F07-EFD3EEAFBD71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7A19D-9DFE-4675-80D5-8460C7005B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24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5106-0A89-C6A3-FEDF-46F144799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AE058-BFCC-7F98-8100-E094D4CD1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12A91-91CC-E7C2-0016-87BF11E8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963E4-F154-C89E-529B-F9201CCFD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95850-F64D-9440-F067-FCBFE4031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7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893A-1A47-5945-5DBD-83C92BE9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7DAC9-05A4-6F4D-8C15-6462A9BB3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5FAC1-01E4-5FA9-CF4A-BE3176067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88936-8A50-DD6A-C5A5-B7141935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77938-D7D7-9F2D-08BB-44038CB3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798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CF73D-A42F-6072-84B8-279375C8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3264A-9BA4-4FC3-7F05-E933A4B60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2DB88-B4A1-E4FC-0226-0D9D4ABE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AEC5-DDE4-F77C-47AC-D7FF13C4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82BA6-5A87-748F-92E3-6446E30F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1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552D-FB33-B2C6-7B82-877432DE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85EBC-F88B-9C77-9621-1D9B0AA9C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A3E21-68D3-7670-66B1-AA669B840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A2150-CE26-F933-276C-88D41FC8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297EA-AF3C-730B-8796-A5CEC5B6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B15AE-6E2C-15DE-4D14-39B09935D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78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E932-4642-AC87-ADD9-437993D4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A8536-8320-8BD9-AA9C-42F716EBF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D292E-B2B4-B40B-0E4A-B148D575B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C9C278-71FD-96E0-2521-3AF654BE9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067505-EA62-23A2-D5C7-B97DC1B13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078F1-4D83-8BA8-54E2-586158DF3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7E6812-1DAD-17E0-1633-0F5A9F355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95BF1-0807-05F4-A183-2B5259FD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91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EDA3-DCA5-F052-3018-F97A2EDFF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676AF-0004-782F-DCBC-4E356665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5E20B-BA2F-D918-65E9-95C21B1A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C2349-15DA-CF5F-A418-CBCE3FF2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00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2E74E-46BC-F189-0E57-A3D44D0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8DA9A-42B1-CF12-EB34-9B2ADA4E9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89424-3833-55C0-6A72-0FA68206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88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A58C-C0A7-E77B-6977-011D11F3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B643D-44D5-15A3-E4D1-2411432E3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9CD22-DFCD-C001-7618-62846A97B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F64D0-84F9-A5C2-32FF-5DB153B3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64FB1-8652-EAED-D769-3BCF32C1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1EF48-988F-6181-8469-2C9AAD29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78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4BF7-C075-DA11-63C8-DD5552DB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454FA8-4250-6F64-4916-A2E5B65EA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93EE9-1167-64FE-7B61-587B9B1B7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A448B-5667-3321-71D1-75F762FB8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413FD-C9AB-7D21-14A6-8124ACCC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88C6B-5518-528D-CFD5-D9B65007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50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6BD9-FB65-3EEE-4F82-B9A318A3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C554A-B340-4259-D639-E969071DD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E3855-C6C5-5618-8CF3-C45747EF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853E2-23CC-ED52-08F5-6BFAAD66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DE1D6-4792-531D-023D-08810171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37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7A5365-0A66-C79A-1A44-141179974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C8A9E-6A0D-E50C-ABCA-D36C86CFE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FA1DB-7107-D470-41B6-BCECF74C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BA7E9-0341-DFAE-F661-255BC368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DB22B-3C72-9479-8575-CB35E956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422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15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23C30-316A-DA6B-38F6-02BA4CDE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28492-1F7C-5AAB-1234-BE479DD8F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56ACF-4CF4-C095-63D7-A0E32A914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7DAA4-FD3F-4A3C-BF5D-B2E662723243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9C883-38EE-C569-4087-4C3014C27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B4D9-D641-1AE9-7090-D2CCA5046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66B5A-DD81-4BC4-B70A-B8C2C94356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77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A926-9D86-7499-E746-80E88D4730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7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30424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Reasoning, Planning &amp; Tool Use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0184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Building Intelligent AI Agents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0184" y="23164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Topics: </a:t>
            </a:r>
            <a:r>
              <a:rPr lang="en-US" sz="2133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• CoT • ToT • GoT • Tool Use • Planning • Reflection</a:t>
            </a:r>
            <a:endParaRPr lang="en-US" sz="2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53440" y="176784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53440" y="17678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1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1463040" y="170688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Architectures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21336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CoT, ToT, GoT approaches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853440" y="262128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53440" y="262128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2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Framework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98704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+ Action paradigm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853440" y="347472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53440" y="347472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3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1463040" y="341376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&amp; API Integration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and execution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853440" y="432816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3440" y="432816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4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1463040" y="426720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Planning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469392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task decomposition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853440" y="518160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53440" y="518160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5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1463040" y="512064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Patterns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63040" y="554736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Self-critique and improvement</a:t>
            </a:r>
            <a:endParaRPr lang="en-US" sz="1733" dirty="0"/>
          </a:p>
        </p:txBody>
      </p:sp>
      <p:sp>
        <p:nvSpPr>
          <p:cNvPr id="23" name="Shape 21"/>
          <p:cNvSpPr/>
          <p:nvPr/>
        </p:nvSpPr>
        <p:spPr>
          <a:xfrm>
            <a:off x="853440" y="603504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853440" y="60350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6</a:t>
            </a:r>
            <a:endParaRPr lang="en-US" sz="2133" dirty="0"/>
          </a:p>
        </p:txBody>
      </p:sp>
      <p:sp>
        <p:nvSpPr>
          <p:cNvPr id="25" name="Text 23"/>
          <p:cNvSpPr/>
          <p:nvPr/>
        </p:nvSpPr>
        <p:spPr>
          <a:xfrm>
            <a:off x="1463040" y="597408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Practice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63040" y="64008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Search + Python agent</a:t>
            </a:r>
            <a:endParaRPr lang="en-US" sz="17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 of Thought (CoT)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Prompting LLMs to reason step-by-step before answering</a:t>
            </a:r>
            <a:endParaRPr lang="en-US" sz="2133" dirty="0"/>
          </a:p>
        </p:txBody>
      </p:sp>
      <p:sp>
        <p:nvSpPr>
          <p:cNvPr id="5" name="Shape 2"/>
          <p:cNvSpPr/>
          <p:nvPr/>
        </p:nvSpPr>
        <p:spPr>
          <a:xfrm>
            <a:off x="731520" y="2072640"/>
            <a:ext cx="5120640" cy="4145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536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8090"/>
                </a:solidFill>
              </a:rPr>
              <a:t>Key Concepts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75360" y="2926080"/>
            <a:ext cx="4632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Explicit reasoning steps</a:t>
            </a:r>
            <a:endParaRPr lang="en-US" sz="1867" dirty="0"/>
          </a:p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Intermediate outputs visible</a:t>
            </a:r>
            <a:endParaRPr lang="en-US" sz="1867" dirty="0"/>
          </a:p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Improves accuracy on complex tasks</a:t>
            </a:r>
            <a:endParaRPr lang="en-US" sz="1867" dirty="0"/>
          </a:p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Works with zero-shot or few-shot</a:t>
            </a:r>
            <a:endParaRPr lang="en-US" sz="1867" dirty="0"/>
          </a:p>
          <a:p>
            <a:pPr>
              <a:lnSpc>
                <a:spcPts val="3200"/>
              </a:lnSpc>
            </a:pPr>
            <a:r>
              <a:rPr lang="en-US" sz="1867" dirty="0">
                <a:solidFill>
                  <a:srgbClr val="2C3E50"/>
                </a:solidFill>
              </a:rPr>
              <a:t>• 'Let's think step by step...'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6339840" y="2072640"/>
            <a:ext cx="5120640" cy="41452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A896"/>
                </a:solidFill>
              </a:rPr>
              <a:t>Example Prompt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583680" y="2926080"/>
            <a:ext cx="4632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67"/>
              </a:lnSpc>
            </a:pPr>
            <a:r>
              <a:rPr lang="en-US" sz="16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Roger has 5 tennis balls.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 buys 2 more cans of 3.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does he have?</a:t>
            </a:r>
            <a:endParaRPr lang="en-US" sz="1600" dirty="0"/>
          </a:p>
          <a:p>
            <a:pPr>
              <a:lnSpc>
                <a:spcPts val="2667"/>
              </a:lnSpc>
            </a:pP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Let's think step by step: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Started with 5 balls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Bought 2 cans × 3 = 6 balls</a:t>
            </a:r>
            <a:endParaRPr lang="en-US" sz="1600" dirty="0"/>
          </a:p>
          <a:p>
            <a:pPr>
              <a:lnSpc>
                <a:spcPts val="26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Total = 5 + 6 = 11 balls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 of Thoughts (ToT)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Exploring multiple reasoning paths with backtracking</a:t>
            </a:r>
            <a:endParaRPr lang="en-US" sz="2133" dirty="0"/>
          </a:p>
        </p:txBody>
      </p:sp>
      <p:sp>
        <p:nvSpPr>
          <p:cNvPr id="5" name="Text 2"/>
          <p:cNvSpPr/>
          <p:nvPr/>
        </p:nvSpPr>
        <p:spPr>
          <a:xfrm>
            <a:off x="731520" y="207264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028090"/>
                </a:solidFill>
              </a:rPr>
              <a:t>Core Mechanism</a:t>
            </a:r>
            <a:endParaRPr lang="en-US" sz="2667" dirty="0"/>
          </a:p>
        </p:txBody>
      </p:sp>
      <p:sp>
        <p:nvSpPr>
          <p:cNvPr id="6" name="Text 3"/>
          <p:cNvSpPr/>
          <p:nvPr/>
        </p:nvSpPr>
        <p:spPr>
          <a:xfrm>
            <a:off x="731520" y="2682240"/>
            <a:ext cx="512064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733" b="1" dirty="0">
                <a:solidFill>
                  <a:srgbClr val="2C3E50"/>
                </a:solidFill>
              </a:rPr>
              <a:t>1. Generate Thoughts</a:t>
            </a: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dirty="0">
                <a:solidFill>
                  <a:srgbClr val="2C3E50"/>
                </a:solidFill>
              </a:rPr>
              <a:t>   Create multiple reasoning paths</a:t>
            </a:r>
            <a:endParaRPr lang="en-US" sz="1733" dirty="0"/>
          </a:p>
          <a:p>
            <a:pPr>
              <a:lnSpc>
                <a:spcPts val="2400"/>
              </a:lnSpc>
            </a:pP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b="1" dirty="0">
                <a:solidFill>
                  <a:srgbClr val="2C3E50"/>
                </a:solidFill>
              </a:rPr>
              <a:t>2. Evaluate Thoughts</a:t>
            </a: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dirty="0">
                <a:solidFill>
                  <a:srgbClr val="2C3E50"/>
                </a:solidFill>
              </a:rPr>
              <a:t>   Score each path's promise</a:t>
            </a:r>
            <a:endParaRPr lang="en-US" sz="1733" dirty="0"/>
          </a:p>
          <a:p>
            <a:pPr>
              <a:lnSpc>
                <a:spcPts val="2400"/>
              </a:lnSpc>
            </a:pP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b="1" dirty="0">
                <a:solidFill>
                  <a:srgbClr val="2C3E50"/>
                </a:solidFill>
              </a:rPr>
              <a:t>3. Search Strategy</a:t>
            </a: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dirty="0">
                <a:solidFill>
                  <a:srgbClr val="2C3E50"/>
                </a:solidFill>
              </a:rPr>
              <a:t>   BFS or DFS through tree</a:t>
            </a:r>
            <a:endParaRPr lang="en-US" sz="1733" dirty="0"/>
          </a:p>
          <a:p>
            <a:pPr>
              <a:lnSpc>
                <a:spcPts val="2400"/>
              </a:lnSpc>
            </a:pP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b="1" dirty="0">
                <a:solidFill>
                  <a:srgbClr val="2C3E50"/>
                </a:solidFill>
              </a:rPr>
              <a:t>4. Backtrack</a:t>
            </a:r>
            <a:endParaRPr lang="en-US" sz="1733" dirty="0"/>
          </a:p>
          <a:p>
            <a:pPr>
              <a:lnSpc>
                <a:spcPts val="2400"/>
              </a:lnSpc>
            </a:pPr>
            <a:r>
              <a:rPr lang="en-US" sz="1733" dirty="0">
                <a:solidFill>
                  <a:srgbClr val="2C3E50"/>
                </a:solidFill>
              </a:rPr>
              <a:t>   Prune dead-ends, explore better paths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6339840" y="2072640"/>
            <a:ext cx="5120640" cy="4145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C39A"/>
                </a:solidFill>
              </a:rPr>
              <a:t>Best Use Cases</a:t>
            </a:r>
            <a:endParaRPr lang="en-US" sz="2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3048000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3023616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Creative writing with alternatives</a:t>
            </a:r>
            <a:endParaRPr lang="en-US" sz="1733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3657600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0" y="3633216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Game playing (24, crosswords)</a:t>
            </a:r>
            <a:endParaRPr lang="en-US" sz="1733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267200"/>
            <a:ext cx="304800" cy="304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0" y="4242816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Mathematical reasoning</a:t>
            </a:r>
            <a:endParaRPr lang="en-US" sz="1733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4876800"/>
            <a:ext cx="304800" cy="304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0" y="4852416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2C3E50"/>
                </a:solidFill>
              </a:rPr>
              <a:t>Strategic planning problems</a:t>
            </a:r>
            <a:endParaRPr lang="en-US" sz="17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 of Thoughts (GoT)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Non-linear reasoning with thought aggregation and refinement</a:t>
            </a:r>
            <a:endParaRPr lang="en-US" sz="2133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731520" y="2194560"/>
          <a:ext cx="10728960" cy="1706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CoT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Linear chain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Sequential reasoning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ToT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Tree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Branching + backtracking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GoT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Graph/Network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</a:rPr>
                        <a:t>Thought merging + loops</a:t>
                      </a:r>
                      <a:endParaRPr lang="en-US" sz="1700" dirty="0"/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6720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C39A"/>
                </a:solidFill>
              </a:rPr>
              <a:t>GoT Advantages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731520" y="4876800"/>
            <a:ext cx="5120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✓ Aggregate multiple perspectives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✓ Refine thoughts iteratively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✓ Handle complex dependencies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✓ Combine sub-solutions</a:t>
            </a:r>
            <a:endParaRPr lang="en-US" sz="1867" dirty="0"/>
          </a:p>
        </p:txBody>
      </p:sp>
      <p:sp>
        <p:nvSpPr>
          <p:cNvPr id="8" name="Text 4"/>
          <p:cNvSpPr/>
          <p:nvPr/>
        </p:nvSpPr>
        <p:spPr>
          <a:xfrm>
            <a:off x="6339840" y="426720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A896"/>
                </a:solidFill>
              </a:rPr>
              <a:t>When to Use GoT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339840" y="4876800"/>
            <a:ext cx="51206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• Multi-document synthesis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• Sorting/ranking with comparisons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• Iterative refinement needed</a:t>
            </a:r>
            <a:endParaRPr lang="en-US" sz="1867" dirty="0"/>
          </a:p>
          <a:p>
            <a:pPr>
              <a:lnSpc>
                <a:spcPts val="2933"/>
              </a:lnSpc>
            </a:pPr>
            <a:r>
              <a:rPr lang="en-US" sz="1867" dirty="0">
                <a:solidFill>
                  <a:srgbClr val="2C3E50"/>
                </a:solidFill>
              </a:rPr>
              <a:t>• Sub-task dependencies exist</a:t>
            </a:r>
            <a:endParaRPr lang="en-US" sz="18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Architecture</a:t>
            </a:r>
            <a:endParaRPr lang="en-US" sz="5867" dirty="0"/>
          </a:p>
        </p:txBody>
      </p:sp>
      <p:sp>
        <p:nvSpPr>
          <p:cNvPr id="3" name="Text 1"/>
          <p:cNvSpPr/>
          <p:nvPr/>
        </p:nvSpPr>
        <p:spPr>
          <a:xfrm>
            <a:off x="609600" y="17068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i="1" dirty="0">
                <a:solidFill>
                  <a:srgbClr val="02C39A"/>
                </a:solidFill>
              </a:rPr>
              <a:t>Reasoning + Acting in Synergy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1219200" y="2804160"/>
            <a:ext cx="24384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2804160"/>
            <a:ext cx="97536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402080" y="29870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1. Thought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1402080" y="3474720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Reason about current state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779520" y="3352800"/>
            <a:ext cx="48768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3962400" y="2804160"/>
            <a:ext cx="24384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962400" y="2804160"/>
            <a:ext cx="97536" cy="1463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145280" y="29870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2. Action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4145280" y="3474720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Execute tool/API call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22720" y="3352800"/>
            <a:ext cx="48768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6705600" y="2804160"/>
            <a:ext cx="24384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705600" y="2804160"/>
            <a:ext cx="97536" cy="146304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6" name="Text 14"/>
          <p:cNvSpPr/>
          <p:nvPr/>
        </p:nvSpPr>
        <p:spPr>
          <a:xfrm>
            <a:off x="6888480" y="29870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3. Observation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6888480" y="3474720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Process result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65920" y="3352800"/>
            <a:ext cx="48768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9448800" y="2804160"/>
            <a:ext cx="2438400" cy="1463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448800" y="2804160"/>
            <a:ext cx="97536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631680" y="2987040"/>
            <a:ext cx="2072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4. Repeat</a:t>
            </a:r>
            <a:endParaRPr lang="en-US" sz="2133" dirty="0"/>
          </a:p>
        </p:txBody>
      </p:sp>
      <p:sp>
        <p:nvSpPr>
          <p:cNvPr id="22" name="Text 20"/>
          <p:cNvSpPr/>
          <p:nvPr/>
        </p:nvSpPr>
        <p:spPr>
          <a:xfrm>
            <a:off x="9631680" y="3474720"/>
            <a:ext cx="2072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</a:rPr>
              <a:t>Until task complete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3024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dirty="0">
                <a:solidFill>
                  <a:srgbClr val="F5F5F5"/>
                </a:solidFill>
              </a:rPr>
              <a:t>Combines explicit reasoning with dynamic tool interaction</a:t>
            </a:r>
            <a:endParaRPr lang="en-US" sz="21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C4C76-6DA4-B539-15C6-3180FE2E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7B183-2579-6B9E-8C82-4EFD66311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563624"/>
            <a:ext cx="11420856" cy="4613339"/>
          </a:xfrm>
        </p:spPr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 is a prompting framework introduced in a 2022 paper by Yao et al.</a:t>
            </a:r>
          </a:p>
          <a:p>
            <a:r>
              <a:rPr lang="en-US" dirty="0"/>
              <a:t>It combines </a:t>
            </a:r>
            <a:r>
              <a:rPr lang="en-US" b="1" dirty="0"/>
              <a:t>reasoning</a:t>
            </a:r>
            <a:r>
              <a:rPr lang="en-US" dirty="0"/>
              <a:t> (thinking step-by-step) with </a:t>
            </a:r>
            <a:r>
              <a:rPr lang="en-US" b="1" dirty="0"/>
              <a:t>acting</a:t>
            </a:r>
            <a:r>
              <a:rPr lang="en-US" dirty="0"/>
              <a:t> (interacting with external tools) in a synergistic loop. </a:t>
            </a:r>
          </a:p>
          <a:p>
            <a:r>
              <a:rPr lang="en-US" dirty="0"/>
              <a:t>Traditional LLMs either reason without acting or act without reasoning — </a:t>
            </a:r>
            <a:r>
              <a:rPr lang="en-US" dirty="0" err="1"/>
              <a:t>ReAct</a:t>
            </a:r>
            <a:r>
              <a:rPr lang="en-US" dirty="0"/>
              <a:t> bridges that gap.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33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99CC-BC73-5064-3A10-89D85FB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42DE-BC5F-A6DA-80A8-3E089C2E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76D2-0BB8-63B1-0C20-39A51D5A3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563624"/>
            <a:ext cx="11420856" cy="4613339"/>
          </a:xfrm>
        </p:spPr>
        <p:txBody>
          <a:bodyPr/>
          <a:lstStyle/>
          <a:p>
            <a:r>
              <a:rPr lang="en-IN" b="1" dirty="0"/>
              <a:t>The Core Loop</a:t>
            </a:r>
          </a:p>
          <a:p>
            <a:endParaRPr lang="en-US" dirty="0"/>
          </a:p>
          <a:p>
            <a:r>
              <a:rPr lang="en-US" dirty="0"/>
              <a:t>The entire </a:t>
            </a:r>
            <a:r>
              <a:rPr lang="en-US" dirty="0" err="1"/>
              <a:t>ReAct</a:t>
            </a:r>
            <a:r>
              <a:rPr lang="en-US" dirty="0"/>
              <a:t> architecture revolves around a repeating cycle of three steps:</a:t>
            </a:r>
          </a:p>
          <a:p>
            <a:endParaRPr lang="en-US" sz="2000" b="1" dirty="0"/>
          </a:p>
          <a:p>
            <a:r>
              <a:rPr lang="en-US" sz="2000" b="1" dirty="0"/>
              <a:t>Thought → Action → Observation → Thought → Action → Observation → ... → Final Answer</a:t>
            </a:r>
            <a:endParaRPr lang="en-US" sz="2000" dirty="0"/>
          </a:p>
          <a:p>
            <a:endParaRPr lang="en-US" dirty="0"/>
          </a:p>
          <a:p>
            <a:r>
              <a:rPr lang="en-US" dirty="0"/>
              <a:t>Each iteration brings the agent closer to solving the task.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18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84029-DF66-2460-D161-388239955F13}"/>
              </a:ext>
            </a:extLst>
          </p:cNvPr>
          <p:cNvSpPr txBox="1"/>
          <p:nvPr/>
        </p:nvSpPr>
        <p:spPr>
          <a:xfrm>
            <a:off x="1307592" y="474345"/>
            <a:ext cx="1020470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Query</a:t>
            </a:r>
          </a:p>
          <a:p>
            <a:r>
              <a:rPr lang="en-IN" dirty="0"/>
              <a:t>     │</a:t>
            </a:r>
          </a:p>
          <a:p>
            <a:r>
              <a:rPr lang="en-IN" dirty="0"/>
              <a:t>    ▼</a:t>
            </a:r>
          </a:p>
          <a:p>
            <a:r>
              <a:rPr lang="en-IN" dirty="0"/>
              <a:t>┌─────────────┐</a:t>
            </a:r>
          </a:p>
          <a:p>
            <a:r>
              <a:rPr lang="en-IN" dirty="0"/>
              <a:t>│   Thought   │ ← LLM reasons about what to do</a:t>
            </a:r>
          </a:p>
          <a:p>
            <a:r>
              <a:rPr lang="en-IN" dirty="0"/>
              <a:t>└──────┬──────┘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▼</a:t>
            </a:r>
          </a:p>
          <a:p>
            <a:r>
              <a:rPr lang="en-IN" dirty="0"/>
              <a:t>┌─────────────┐</a:t>
            </a:r>
          </a:p>
          <a:p>
            <a:r>
              <a:rPr lang="en-IN" dirty="0"/>
              <a:t>│   Action    │ ← LLM calls a tool (search, calc, etc.)</a:t>
            </a:r>
          </a:p>
          <a:p>
            <a:r>
              <a:rPr lang="en-IN" dirty="0"/>
              <a:t>└──────┬──────┘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▼</a:t>
            </a:r>
          </a:p>
          <a:p>
            <a:r>
              <a:rPr lang="en-IN" dirty="0"/>
              <a:t>┌─────────────┐</a:t>
            </a:r>
          </a:p>
          <a:p>
            <a:r>
              <a:rPr lang="en-IN" dirty="0"/>
              <a:t>│ Observation │ ← Tool returns a result</a:t>
            </a:r>
          </a:p>
          <a:p>
            <a:r>
              <a:rPr lang="en-IN" dirty="0"/>
              <a:t>└──────┬──────┘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├── Need more info? ──► Loop back to Thought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▼</a:t>
            </a:r>
          </a:p>
          <a:p>
            <a:r>
              <a:rPr lang="en-IN" dirty="0"/>
              <a:t>  Final Answer</a:t>
            </a:r>
          </a:p>
        </p:txBody>
      </p:sp>
    </p:spTree>
    <p:extLst>
      <p:ext uri="{BB962C8B-B14F-4D97-AF65-F5344CB8AC3E}">
        <p14:creationId xmlns:p14="http://schemas.microsoft.com/office/powerpoint/2010/main" val="3271301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in Action: Example Trace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960" cy="4632960"/>
          </a:xfrm>
          <a:prstGeom prst="rect">
            <a:avLst/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5360" y="1706880"/>
            <a:ext cx="10241280" cy="414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What is the elevation of Mt. Everest in meters?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1: I need to search for Mt. Everest's elevation.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1: search('Mt. Everest elevation')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1: Mt. Everest is 8,848.86 meters above sea level.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 2: The observation contains the answer.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i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2: finish('8,848.86 meters')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8,848.86 meters</a:t>
            </a:r>
            <a:endParaRPr lang="en-US" sz="17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 &amp; API Calling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Extending LLM capabilities with external functions</a:t>
            </a:r>
            <a:endParaRPr lang="en-US" sz="2133" dirty="0"/>
          </a:p>
        </p:txBody>
      </p:sp>
      <p:sp>
        <p:nvSpPr>
          <p:cNvPr id="5" name="Shape 2"/>
          <p:cNvSpPr/>
          <p:nvPr/>
        </p:nvSpPr>
        <p:spPr>
          <a:xfrm>
            <a:off x="731520" y="2194560"/>
            <a:ext cx="5120640" cy="85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5360" y="231648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Search Tools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75360" y="2657856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Web search, Wikipedia, RAG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230880"/>
            <a:ext cx="5120640" cy="85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5360" y="335280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Computation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75360" y="3694176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Calculator, Python REPL, SQL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4267200"/>
            <a:ext cx="5120640" cy="85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5360" y="438912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External APIs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75360" y="4730496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Weather, Stock data, Databases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520" y="5303520"/>
            <a:ext cx="5120640" cy="85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5360" y="5425440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File Operations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75360" y="5766816"/>
            <a:ext cx="4632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66666"/>
                </a:solidFill>
              </a:rPr>
              <a:t>Read, Write, Parse documents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39840" y="207264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C39A"/>
                </a:solidFill>
              </a:rPr>
              <a:t>Function Calling Flow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339840" y="2682240"/>
            <a:ext cx="5120640" cy="3413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2865120"/>
            <a:ext cx="463296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8090"/>
                </a:solidFill>
              </a:rPr>
              <a:t>1. Define Tool Schema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2C3E50"/>
                </a:solidFill>
              </a:rPr>
              <a:t>   (name, description, parameters)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8090"/>
                </a:solidFill>
              </a:rPr>
              <a:t>2. LLM Selects Tool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2C3E50"/>
                </a:solidFill>
              </a:rPr>
              <a:t>   (based on context + task)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8090"/>
                </a:solidFill>
              </a:rPr>
              <a:t>3. Execute Function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2C3E50"/>
                </a:solidFill>
              </a:rPr>
              <a:t>   (with extracted arguments)</a:t>
            </a:r>
            <a:endParaRPr lang="en-US" sz="1733" dirty="0"/>
          </a:p>
          <a:p>
            <a:pPr>
              <a:lnSpc>
                <a:spcPts val="2133"/>
              </a:lnSpc>
            </a:pP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b="1" dirty="0">
                <a:solidFill>
                  <a:srgbClr val="028090"/>
                </a:solidFill>
              </a:rPr>
              <a:t>4. Return Result to LLM</a:t>
            </a:r>
            <a:endParaRPr lang="en-US" sz="1733" dirty="0"/>
          </a:p>
          <a:p>
            <a:pPr>
              <a:lnSpc>
                <a:spcPts val="2133"/>
              </a:lnSpc>
            </a:pPr>
            <a:r>
              <a:rPr lang="en-US" sz="1733" dirty="0">
                <a:solidFill>
                  <a:srgbClr val="2C3E50"/>
                </a:solidFill>
              </a:rPr>
              <a:t>   (continue reasoning)</a:t>
            </a:r>
            <a:endParaRPr lang="en-US" sz="173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Design for ReAct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600" y="1341120"/>
            <a:ext cx="10972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Key Components of Effective ReAct Prompts</a:t>
            </a:r>
            <a:endParaRPr lang="en-US" sz="2133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120640" cy="1706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237744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1. System Instructions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36320" y="280416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Define agent role and capabilities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Specify output format (Thought/Action/Obs)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Set termination conditions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731520" y="4145280"/>
            <a:ext cx="5120640" cy="1706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" y="43281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2. Tool Descriptions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36320" y="475488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Clear tool names and purposes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Parameter specifications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Expected return formats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339840" y="2194560"/>
            <a:ext cx="5120640" cy="1706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37744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3. Few-Shot Examples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44640" y="280416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Show complete reasoning traces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Demonstrate tool usage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Include error handling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6339840" y="4145280"/>
            <a:ext cx="5120640" cy="1706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3281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E2761"/>
                </a:solidFill>
              </a:rPr>
              <a:t>4. Task Instruction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44640" y="4754880"/>
            <a:ext cx="45110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Clear objective statement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Any constraints or requirements</a:t>
            </a:r>
            <a:endParaRPr lang="en-US" sz="1467" dirty="0"/>
          </a:p>
          <a:p>
            <a:pPr>
              <a:lnSpc>
                <a:spcPts val="2133"/>
              </a:lnSpc>
            </a:pPr>
            <a:r>
              <a:rPr lang="en-US" sz="1467" dirty="0">
                <a:solidFill>
                  <a:srgbClr val="555555"/>
                </a:solidFill>
              </a:rPr>
              <a:t>Success criteria</a:t>
            </a:r>
            <a:endParaRPr lang="en-US" sz="14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Planning Strategies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Breaking down complex tasks into manageable sub-goals</a:t>
            </a:r>
            <a:endParaRPr lang="en-US" sz="2133" dirty="0"/>
          </a:p>
        </p:txBody>
      </p:sp>
      <p:sp>
        <p:nvSpPr>
          <p:cNvPr id="5" name="Text 2"/>
          <p:cNvSpPr/>
          <p:nvPr/>
        </p:nvSpPr>
        <p:spPr>
          <a:xfrm>
            <a:off x="731520" y="207264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028090"/>
                </a:solidFill>
              </a:rPr>
              <a:t>Planning Techniques</a:t>
            </a:r>
            <a:endParaRPr lang="en-US" sz="2667" dirty="0"/>
          </a:p>
        </p:txBody>
      </p:sp>
      <p:sp>
        <p:nvSpPr>
          <p:cNvPr id="6" name="Text 3"/>
          <p:cNvSpPr/>
          <p:nvPr/>
        </p:nvSpPr>
        <p:spPr>
          <a:xfrm>
            <a:off x="731520" y="2682240"/>
            <a:ext cx="512064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733" b="1" dirty="0">
                <a:solidFill>
                  <a:srgbClr val="02C39A"/>
                </a:solidFill>
              </a:rPr>
              <a:t>Hierarchical Planning</a:t>
            </a: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dirty="0">
                <a:solidFill>
                  <a:srgbClr val="2C3E50"/>
                </a:solidFill>
              </a:rPr>
              <a:t>Break into high-level → low-level tasks</a:t>
            </a:r>
            <a:endParaRPr lang="en-US" sz="1733" dirty="0"/>
          </a:p>
          <a:p>
            <a:pPr>
              <a:lnSpc>
                <a:spcPts val="2000"/>
              </a:lnSpc>
            </a:pP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b="1" dirty="0">
                <a:solidFill>
                  <a:srgbClr val="02C39A"/>
                </a:solidFill>
              </a:rPr>
              <a:t>Goal Decomposition</a:t>
            </a: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dirty="0">
                <a:solidFill>
                  <a:srgbClr val="2C3E50"/>
                </a:solidFill>
              </a:rPr>
              <a:t>Identify sub-goals and dependencies</a:t>
            </a:r>
            <a:endParaRPr lang="en-US" sz="1733" dirty="0"/>
          </a:p>
          <a:p>
            <a:pPr>
              <a:lnSpc>
                <a:spcPts val="2000"/>
              </a:lnSpc>
            </a:pP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b="1" dirty="0">
                <a:solidFill>
                  <a:srgbClr val="02C39A"/>
                </a:solidFill>
              </a:rPr>
              <a:t>Dynamic Re-planning</a:t>
            </a: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dirty="0">
                <a:solidFill>
                  <a:srgbClr val="2C3E50"/>
                </a:solidFill>
              </a:rPr>
              <a:t>Adjust plan based on execution results</a:t>
            </a:r>
            <a:endParaRPr lang="en-US" sz="1733" dirty="0"/>
          </a:p>
          <a:p>
            <a:pPr>
              <a:lnSpc>
                <a:spcPts val="2000"/>
              </a:lnSpc>
            </a:pP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b="1" dirty="0">
                <a:solidFill>
                  <a:srgbClr val="02C39A"/>
                </a:solidFill>
              </a:rPr>
              <a:t>Resource-Aware Planning</a:t>
            </a:r>
            <a:endParaRPr lang="en-US" sz="1733" dirty="0"/>
          </a:p>
          <a:p>
            <a:pPr>
              <a:lnSpc>
                <a:spcPts val="2000"/>
              </a:lnSpc>
            </a:pPr>
            <a:r>
              <a:rPr lang="en-US" sz="1733" dirty="0">
                <a:solidFill>
                  <a:srgbClr val="2C3E50"/>
                </a:solidFill>
              </a:rPr>
              <a:t>Consider tool availability and constraints</a:t>
            </a:r>
            <a:endParaRPr lang="en-US" sz="1733" dirty="0"/>
          </a:p>
        </p:txBody>
      </p:sp>
      <p:sp>
        <p:nvSpPr>
          <p:cNvPr id="7" name="Shape 4"/>
          <p:cNvSpPr/>
          <p:nvPr/>
        </p:nvSpPr>
        <p:spPr>
          <a:xfrm>
            <a:off x="6339840" y="2072640"/>
            <a:ext cx="5120640" cy="4145280"/>
          </a:xfrm>
          <a:prstGeom prst="rect">
            <a:avLst/>
          </a:prstGeom>
          <a:solidFill>
            <a:srgbClr val="F8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E2761"/>
                </a:solidFill>
              </a:rPr>
              <a:t>Example: Plan a Trip</a:t>
            </a:r>
            <a:endParaRPr lang="en-US" sz="2133" dirty="0"/>
          </a:p>
        </p:txBody>
      </p:sp>
      <p:sp>
        <p:nvSpPr>
          <p:cNvPr id="9" name="Text 6"/>
          <p:cNvSpPr/>
          <p:nvPr/>
        </p:nvSpPr>
        <p:spPr>
          <a:xfrm>
            <a:off x="6583680" y="2926080"/>
            <a:ext cx="463296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67"/>
              </a:lnSpc>
            </a:pPr>
            <a:r>
              <a:rPr lang="en-US" sz="16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Book vacation to Paris</a:t>
            </a:r>
            <a:endParaRPr lang="en-US" sz="1600" dirty="0"/>
          </a:p>
          <a:p>
            <a:pPr>
              <a:lnSpc>
                <a:spcPts val="1867"/>
              </a:lnSpc>
            </a:pP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Sub-goals: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Find flight deals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Book hotel accommodation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Research attractions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Create itinerary</a:t>
            </a:r>
            <a:endParaRPr lang="en-US" sz="1600" dirty="0"/>
          </a:p>
          <a:p>
            <a:pPr>
              <a:lnSpc>
                <a:spcPts val="1867"/>
              </a:lnSpc>
            </a:pP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needed: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Flight API, Hotel API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Web search, Calculator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Calendar, Note-taking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487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Reflection Patterns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31520" y="134112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555555"/>
                </a:solidFill>
              </a:rPr>
              <a:t>Self-critique and iterative improvement</a:t>
            </a:r>
            <a:endParaRPr lang="en-US" sz="2133" dirty="0"/>
          </a:p>
        </p:txBody>
      </p:sp>
      <p:sp>
        <p:nvSpPr>
          <p:cNvPr id="5" name="Text 2"/>
          <p:cNvSpPr/>
          <p:nvPr/>
        </p:nvSpPr>
        <p:spPr>
          <a:xfrm>
            <a:off x="731520" y="2072640"/>
            <a:ext cx="5120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C39A"/>
                </a:solidFill>
              </a:rPr>
              <a:t>The Reflection Loop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53440" y="2682240"/>
            <a:ext cx="426720" cy="426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853440" y="26822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1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1402080" y="2743200"/>
            <a:ext cx="3901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C3E50"/>
                </a:solidFill>
              </a:rPr>
              <a:t>Execute Action</a:t>
            </a:r>
            <a:endParaRPr lang="en-US" sz="1867" dirty="0"/>
          </a:p>
        </p:txBody>
      </p:sp>
      <p:sp>
        <p:nvSpPr>
          <p:cNvPr id="9" name="Shape 6"/>
          <p:cNvSpPr/>
          <p:nvPr/>
        </p:nvSpPr>
        <p:spPr>
          <a:xfrm>
            <a:off x="853440" y="3291840"/>
            <a:ext cx="426720" cy="4267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853440" y="32918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2</a:t>
            </a:r>
            <a:endParaRPr lang="en-US" sz="2133" dirty="0"/>
          </a:p>
        </p:txBody>
      </p:sp>
      <p:sp>
        <p:nvSpPr>
          <p:cNvPr id="11" name="Text 8"/>
          <p:cNvSpPr/>
          <p:nvPr/>
        </p:nvSpPr>
        <p:spPr>
          <a:xfrm>
            <a:off x="1402080" y="3352800"/>
            <a:ext cx="3901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C3E50"/>
                </a:solidFill>
              </a:rPr>
              <a:t>Evaluate Result</a:t>
            </a:r>
            <a:endParaRPr lang="en-US" sz="1867" dirty="0"/>
          </a:p>
        </p:txBody>
      </p:sp>
      <p:sp>
        <p:nvSpPr>
          <p:cNvPr id="12" name="Shape 9"/>
          <p:cNvSpPr/>
          <p:nvPr/>
        </p:nvSpPr>
        <p:spPr>
          <a:xfrm>
            <a:off x="853440" y="3901440"/>
            <a:ext cx="426720" cy="42672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13" name="Text 10"/>
          <p:cNvSpPr/>
          <p:nvPr/>
        </p:nvSpPr>
        <p:spPr>
          <a:xfrm>
            <a:off x="853440" y="39014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3</a:t>
            </a:r>
            <a:endParaRPr lang="en-US" sz="2133" dirty="0"/>
          </a:p>
        </p:txBody>
      </p:sp>
      <p:sp>
        <p:nvSpPr>
          <p:cNvPr id="14" name="Text 11"/>
          <p:cNvSpPr/>
          <p:nvPr/>
        </p:nvSpPr>
        <p:spPr>
          <a:xfrm>
            <a:off x="1402080" y="3962400"/>
            <a:ext cx="3901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C3E50"/>
                </a:solidFill>
              </a:rPr>
              <a:t>Identify Issues</a:t>
            </a:r>
            <a:endParaRPr lang="en-US" sz="1867" dirty="0"/>
          </a:p>
        </p:txBody>
      </p:sp>
      <p:sp>
        <p:nvSpPr>
          <p:cNvPr id="15" name="Shape 12"/>
          <p:cNvSpPr/>
          <p:nvPr/>
        </p:nvSpPr>
        <p:spPr>
          <a:xfrm>
            <a:off x="853440" y="4511040"/>
            <a:ext cx="426720" cy="426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853440" y="4511040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</a:rPr>
              <a:t>4</a:t>
            </a:r>
            <a:endParaRPr lang="en-US" sz="2133" dirty="0"/>
          </a:p>
        </p:txBody>
      </p:sp>
      <p:sp>
        <p:nvSpPr>
          <p:cNvPr id="17" name="Text 14"/>
          <p:cNvSpPr/>
          <p:nvPr/>
        </p:nvSpPr>
        <p:spPr>
          <a:xfrm>
            <a:off x="1402080" y="4572000"/>
            <a:ext cx="39014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2C3E50"/>
                </a:solidFill>
              </a:rPr>
              <a:t>Improve &amp; Retry</a:t>
            </a:r>
            <a:endParaRPr lang="en-US" sz="1867" dirty="0"/>
          </a:p>
        </p:txBody>
      </p:sp>
      <p:sp>
        <p:nvSpPr>
          <p:cNvPr id="18" name="Shape 15"/>
          <p:cNvSpPr/>
          <p:nvPr/>
        </p:nvSpPr>
        <p:spPr>
          <a:xfrm>
            <a:off x="6339840" y="2072640"/>
            <a:ext cx="5120640" cy="4145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231648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28090"/>
                </a:solidFill>
              </a:rPr>
              <a:t>Reflection Techniques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583680" y="2926080"/>
            <a:ext cx="463296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2C3E50"/>
                </a:solidFill>
              </a:rPr>
              <a:t>Self-Consistency</a:t>
            </a: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dirty="0">
                <a:solidFill>
                  <a:srgbClr val="2C3E50"/>
                </a:solidFill>
              </a:rPr>
              <a:t>Generate multiple answers, pick consensus</a:t>
            </a:r>
            <a:endParaRPr lang="en-US" sz="1733" dirty="0"/>
          </a:p>
          <a:p>
            <a:pPr>
              <a:lnSpc>
                <a:spcPts val="1867"/>
              </a:lnSpc>
            </a:pP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2C3E50"/>
                </a:solidFill>
              </a:rPr>
              <a:t>Reflexion</a:t>
            </a: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dirty="0">
                <a:solidFill>
                  <a:srgbClr val="2C3E50"/>
                </a:solidFill>
              </a:rPr>
              <a:t>Explicit verbal feedback on failures</a:t>
            </a:r>
            <a:endParaRPr lang="en-US" sz="1733" dirty="0"/>
          </a:p>
          <a:p>
            <a:pPr>
              <a:lnSpc>
                <a:spcPts val="1867"/>
              </a:lnSpc>
            </a:pP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2C3E50"/>
                </a:solidFill>
              </a:rPr>
              <a:t>Self-Ask</a:t>
            </a: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dirty="0">
                <a:solidFill>
                  <a:srgbClr val="2C3E50"/>
                </a:solidFill>
              </a:rPr>
              <a:t>Question assumptions and validate</a:t>
            </a:r>
            <a:endParaRPr lang="en-US" sz="1733" dirty="0"/>
          </a:p>
          <a:p>
            <a:pPr>
              <a:lnSpc>
                <a:spcPts val="1867"/>
              </a:lnSpc>
            </a:pP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2C3E50"/>
                </a:solidFill>
              </a:rPr>
              <a:t>Verification Chains</a:t>
            </a:r>
            <a:endParaRPr lang="en-US" sz="1733" dirty="0"/>
          </a:p>
          <a:p>
            <a:pPr>
              <a:lnSpc>
                <a:spcPts val="1867"/>
              </a:lnSpc>
            </a:pPr>
            <a:r>
              <a:rPr lang="en-US" sz="1733" dirty="0">
                <a:solidFill>
                  <a:srgbClr val="2C3E50"/>
                </a:solidFill>
              </a:rPr>
              <a:t>Cross-check outputs with evidence</a:t>
            </a:r>
            <a:endParaRPr lang="en-US" sz="17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584960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85344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 Exercise</a:t>
            </a:r>
            <a:endParaRPr lang="en-US" sz="5867" dirty="0"/>
          </a:p>
        </p:txBody>
      </p:sp>
      <p:sp>
        <p:nvSpPr>
          <p:cNvPr id="4" name="Text 1"/>
          <p:cNvSpPr/>
          <p:nvPr/>
        </p:nvSpPr>
        <p:spPr>
          <a:xfrm>
            <a:off x="609600" y="19507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i="1" dirty="0">
                <a:solidFill>
                  <a:srgbClr val="02C39A"/>
                </a:solidFill>
              </a:rPr>
              <a:t>Build a Search + Python Tool Agent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1828800" y="3048000"/>
            <a:ext cx="8534400" cy="2804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2072640" y="329184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E2761"/>
                </a:solidFill>
              </a:rPr>
              <a:t>What We'll Build: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072640" y="3901440"/>
            <a:ext cx="804672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2C3E50"/>
                </a:solidFill>
              </a:rPr>
              <a:t>✓ ReAct agent with 2 tools: Search &amp; Python REPL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2C3E50"/>
                </a:solidFill>
              </a:rPr>
              <a:t>✓ Custom prompt template with reasoning structure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2C3E50"/>
                </a:solidFill>
              </a:rPr>
              <a:t>✓ Action parsing and tool execution loop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2C3E50"/>
                </a:solidFill>
              </a:rPr>
              <a:t>✓ Handle multi-step queries requiring both tools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Implementing ReAct Prompt Template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960" cy="4876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75360" y="164592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00D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"""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helpful agent with access to tools.</a:t>
            </a:r>
            <a:endParaRPr lang="en-US" sz="1600" dirty="0"/>
          </a:p>
          <a:p>
            <a:pPr>
              <a:lnSpc>
                <a:spcPts val="2133"/>
              </a:lnSpc>
            </a:pP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using this format: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[reasoning about what to do]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[tool_name: arguments]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[tool result]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(repeat until done)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9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[your response]</a:t>
            </a:r>
            <a:endParaRPr lang="en-US" sz="1600" dirty="0"/>
          </a:p>
          <a:p>
            <a:pPr>
              <a:lnSpc>
                <a:spcPts val="2133"/>
              </a:lnSpc>
            </a:pP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search(query), python(code)</a:t>
            </a:r>
            <a:endParaRPr lang="en-US" sz="1600" dirty="0"/>
          </a:p>
          <a:p>
            <a:pPr>
              <a:lnSpc>
                <a:spcPts val="2133"/>
              </a:lnSpc>
            </a:pPr>
            <a:r>
              <a:rPr lang="en-US" sz="1600" dirty="0">
                <a:solidFill>
                  <a:srgbClr val="00D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67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Implementation Example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728960" cy="47548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75360" y="164592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search_tool(query: str) -&gt; str: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information"""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search API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search_api(query)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results.summary</a:t>
            </a:r>
            <a:endParaRPr lang="en-US" sz="1600" dirty="0"/>
          </a:p>
          <a:p>
            <a:pPr>
              <a:lnSpc>
                <a:spcPts val="1867"/>
              </a:lnSpc>
            </a:pP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python_tool(code: str) -&gt; str: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"""Execute Python code safely"""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exec_sandbox(code)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str(result)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600" dirty="0"/>
          </a:p>
          <a:p>
            <a:pPr>
              <a:lnSpc>
                <a:spcPts val="1867"/>
              </a:lnSpc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f'Error: {e}'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3152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3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5333" dirty="0"/>
          </a:p>
        </p:txBody>
      </p:sp>
      <p:sp>
        <p:nvSpPr>
          <p:cNvPr id="3" name="Shape 1"/>
          <p:cNvSpPr/>
          <p:nvPr/>
        </p:nvSpPr>
        <p:spPr>
          <a:xfrm>
            <a:off x="1219200" y="207264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02080" y="217017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402080" y="217017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1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950720" y="217017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CoT, ToT, GoT offer different reasoning structures for different problems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1219200" y="280416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2080" y="290169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402080" y="290169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2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950720" y="290169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ReAct combines reasoning and acting for dynamic problem-solving</a:t>
            </a:r>
            <a:endParaRPr lang="en-US" sz="1867" dirty="0"/>
          </a:p>
        </p:txBody>
      </p:sp>
      <p:sp>
        <p:nvSpPr>
          <p:cNvPr id="11" name="Shape 9"/>
          <p:cNvSpPr/>
          <p:nvPr/>
        </p:nvSpPr>
        <p:spPr>
          <a:xfrm>
            <a:off x="1219200" y="353568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02080" y="363321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402080" y="363321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3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950720" y="363321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Tool use dramatically expands what LLMs can accomplish</a:t>
            </a:r>
            <a:endParaRPr lang="en-US" sz="1867" dirty="0"/>
          </a:p>
        </p:txBody>
      </p:sp>
      <p:sp>
        <p:nvSpPr>
          <p:cNvPr id="15" name="Shape 13"/>
          <p:cNvSpPr/>
          <p:nvPr/>
        </p:nvSpPr>
        <p:spPr>
          <a:xfrm>
            <a:off x="1219200" y="426720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02080" y="436473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402080" y="436473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4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1950720" y="436473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Good prompt design is critical for reliable agent behavior</a:t>
            </a:r>
            <a:endParaRPr lang="en-US" sz="1867" dirty="0"/>
          </a:p>
        </p:txBody>
      </p:sp>
      <p:sp>
        <p:nvSpPr>
          <p:cNvPr id="19" name="Shape 17"/>
          <p:cNvSpPr/>
          <p:nvPr/>
        </p:nvSpPr>
        <p:spPr>
          <a:xfrm>
            <a:off x="1219200" y="499872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2080" y="509625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1402080" y="509625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5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1950720" y="509625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Reflection patterns enable self-improvement and error recovery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1219200" y="5730240"/>
            <a:ext cx="97536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02080" y="5827776"/>
            <a:ext cx="414528" cy="4145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402080" y="5827776"/>
            <a:ext cx="414528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6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1950720" y="5827776"/>
            <a:ext cx="8778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2C3E50"/>
                </a:solidFill>
              </a:rPr>
              <a:t>Planning strategies help tackle complex multi-step tasks</a:t>
            </a:r>
            <a:endParaRPr lang="en-US" sz="186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9456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6933" dirty="0"/>
          </a:p>
        </p:txBody>
      </p:sp>
      <p:sp>
        <p:nvSpPr>
          <p:cNvPr id="3" name="Text 1"/>
          <p:cNvSpPr/>
          <p:nvPr/>
        </p:nvSpPr>
        <p:spPr>
          <a:xfrm>
            <a:off x="609600" y="35356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609600" y="4876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F5F5F5"/>
                </a:solidFill>
              </a:rPr>
              <a:t>Questions?</a:t>
            </a:r>
            <a:endParaRPr lang="en-US" sz="2667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9F9B64-1722-01F0-D42A-BA17F52B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</a:t>
            </a:r>
            <a:r>
              <a:rPr lang="en-US" b="1" dirty="0" err="1"/>
              <a:t>ReAct</a:t>
            </a:r>
            <a:r>
              <a:rPr lang="en-US" b="1" dirty="0"/>
              <a:t> Works Better Than Alternatives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0D7199-C324-FDF8-1140-324F16933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376651"/>
              </p:ext>
            </p:extLst>
          </p:nvPr>
        </p:nvGraphicFramePr>
        <p:xfrm>
          <a:off x="838200" y="1298448"/>
          <a:ext cx="10515600" cy="3845846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750629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342597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71312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130995"/>
                    </a:ext>
                  </a:extLst>
                </a:gridCol>
              </a:tblGrid>
              <a:tr h="615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Reasoning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Limitation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421157"/>
                  </a:ext>
                </a:extLst>
              </a:tr>
              <a:tr h="1076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Pure CoT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hallucinate — no grounding in real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314449"/>
                  </a:ext>
                </a:extLst>
              </a:tr>
              <a:tr h="1076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Pure Tool Use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reasoning — just blindly calls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951609"/>
                  </a:ext>
                </a:extLst>
              </a:tr>
              <a:tr h="1076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Gets the best of both worlds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2058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F26E9-B857-628B-E22B-0319FB52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DC0C-F4E9-297D-FA59-AFED9B84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Pitfalls &amp; How to Handle Them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ABA1-0859-7D1C-8739-15AD566A6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9848"/>
            <a:ext cx="10515600" cy="510711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1. Infinite Loops</a:t>
            </a:r>
            <a:endParaRPr lang="en-US" dirty="0"/>
          </a:p>
          <a:p>
            <a:r>
              <a:rPr lang="en-US" dirty="0"/>
              <a:t>The agent keeps looping without converging on an answer</a:t>
            </a:r>
          </a:p>
          <a:p>
            <a:r>
              <a:rPr lang="en-US" i="1" dirty="0"/>
              <a:t>Fix:</a:t>
            </a:r>
            <a:r>
              <a:rPr lang="en-US" dirty="0"/>
              <a:t> Set a maximum number of iterations (e.g., 5-10 steps)</a:t>
            </a:r>
          </a:p>
          <a:p>
            <a:r>
              <a:rPr lang="en-US" b="1" dirty="0"/>
              <a:t>2. Hallucinated Actions</a:t>
            </a:r>
            <a:endParaRPr lang="en-US" dirty="0"/>
          </a:p>
          <a:p>
            <a:r>
              <a:rPr lang="en-US" dirty="0"/>
              <a:t>The LLM invents a tool that doesn't exist</a:t>
            </a:r>
          </a:p>
          <a:p>
            <a:r>
              <a:rPr lang="en-US" i="1" dirty="0"/>
              <a:t>Fix:</a:t>
            </a:r>
            <a:r>
              <a:rPr lang="en-US" dirty="0"/>
              <a:t> Strictly define the allowed tool list in the prompt and validate actions before executing</a:t>
            </a:r>
          </a:p>
          <a:p>
            <a:r>
              <a:rPr lang="en-US" b="1" dirty="0"/>
              <a:t>3. Ignoring Observations</a:t>
            </a:r>
            <a:endParaRPr lang="en-US" dirty="0"/>
          </a:p>
          <a:p>
            <a:r>
              <a:rPr lang="en-US" dirty="0"/>
              <a:t>The LLM doesn't use the tool's result in its next thought</a:t>
            </a:r>
          </a:p>
          <a:p>
            <a:r>
              <a:rPr lang="en-US" i="1" dirty="0"/>
              <a:t>Fix:</a:t>
            </a:r>
            <a:r>
              <a:rPr lang="en-US" dirty="0"/>
              <a:t> Include strong few-shot examples that clearly show reasoning based on observations</a:t>
            </a:r>
          </a:p>
          <a:p>
            <a:r>
              <a:rPr lang="en-US" b="1" dirty="0"/>
              <a:t>4. Malformed Output</a:t>
            </a:r>
            <a:endParaRPr lang="en-US" dirty="0"/>
          </a:p>
          <a:p>
            <a:r>
              <a:rPr lang="en-US" dirty="0"/>
              <a:t>The LLM doesn't follow the Thought/Action/Observation format</a:t>
            </a:r>
          </a:p>
          <a:p>
            <a:r>
              <a:rPr lang="en-US" i="1" dirty="0"/>
              <a:t>Fix:</a:t>
            </a:r>
            <a:r>
              <a:rPr lang="en-US" dirty="0"/>
              <a:t> Use structured output parsing and retry with a corrective prompt if format breaks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389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F4B6-082A-4F91-AB23-E2DE046C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Short-term Memory (Working Memory)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A377E-F4A0-7426-4086-CF6D4ADC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1) Short-term Memory (Working Memory)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Meaning:</a:t>
            </a:r>
            <a:r>
              <a:rPr lang="en-US" dirty="0"/>
              <a:t> Temporary memory used </a:t>
            </a:r>
            <a:r>
              <a:rPr lang="en-US" b="1" dirty="0"/>
              <a:t>inside the current task/session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Stored for:</a:t>
            </a:r>
            <a:r>
              <a:rPr lang="en-US" dirty="0"/>
              <a:t> Few seconds/minutes (until task ends).</a:t>
            </a:r>
            <a:br>
              <a:rPr lang="en-US" dirty="0"/>
            </a:br>
            <a:r>
              <a:rPr lang="en-US" b="1" dirty="0"/>
              <a:t>Used for:</a:t>
            </a:r>
            <a:r>
              <a:rPr lang="en-US" dirty="0"/>
              <a:t> Keeping track of the current reasoning steps, intermediate results.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User: “Book a flight from Chennai to Delhi tomorrow morning.”</a:t>
            </a:r>
            <a:br>
              <a:rPr lang="en-US" dirty="0"/>
            </a:br>
            <a:r>
              <a:rPr lang="en-US" dirty="0"/>
              <a:t>Agent short-term memory stores:</a:t>
            </a:r>
          </a:p>
          <a:p>
            <a:r>
              <a:rPr lang="en-US" dirty="0"/>
              <a:t>source = Chennai</a:t>
            </a:r>
          </a:p>
          <a:p>
            <a:r>
              <a:rPr lang="en-US" dirty="0"/>
              <a:t>destination = Delhi</a:t>
            </a:r>
          </a:p>
          <a:p>
            <a:r>
              <a:rPr lang="en-US" dirty="0"/>
              <a:t>date = tomorrow</a:t>
            </a:r>
          </a:p>
          <a:p>
            <a:r>
              <a:rPr lang="en-US" dirty="0"/>
              <a:t>time preference = morning</a:t>
            </a:r>
          </a:p>
          <a:p>
            <a:r>
              <a:rPr lang="en-US" dirty="0"/>
              <a:t>Once booking is done, this memory is usually cleared.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664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9C19-730D-C77E-55A3-2296FBD9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Long-term Memory (Persistent Memory)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C124-F6C9-4CD5-1D70-120D2D8F9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Meaning:</a:t>
            </a:r>
            <a:r>
              <a:rPr lang="en-US" dirty="0"/>
              <a:t> Memory stored </a:t>
            </a:r>
            <a:r>
              <a:rPr lang="en-US" b="1" dirty="0"/>
              <a:t>permanently</a:t>
            </a:r>
            <a:r>
              <a:rPr lang="en-US" dirty="0"/>
              <a:t> across multiple sessions.</a:t>
            </a:r>
            <a:br>
              <a:rPr lang="en-US" dirty="0"/>
            </a:br>
            <a:r>
              <a:rPr lang="en-US" b="1" dirty="0"/>
              <a:t>Stored for:</a:t>
            </a:r>
            <a:r>
              <a:rPr lang="en-US" dirty="0"/>
              <a:t> Days/months/years.</a:t>
            </a:r>
            <a:br>
              <a:rPr lang="en-US" dirty="0"/>
            </a:br>
            <a:r>
              <a:rPr lang="en-US" b="1" dirty="0"/>
              <a:t>Used for:</a:t>
            </a:r>
            <a:r>
              <a:rPr lang="en-US" dirty="0"/>
              <a:t> User preferences, profile, recurring info.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Long-term memory stores:</a:t>
            </a:r>
          </a:p>
          <a:p>
            <a:r>
              <a:rPr lang="en-US" dirty="0"/>
              <a:t>“User prefers Indigo flights”</a:t>
            </a:r>
          </a:p>
          <a:p>
            <a:r>
              <a:rPr lang="en-US" dirty="0"/>
              <a:t>“User likes window seat”</a:t>
            </a:r>
          </a:p>
          <a:p>
            <a:r>
              <a:rPr lang="en-US" dirty="0"/>
              <a:t>“User’s default city is Chennai”</a:t>
            </a:r>
          </a:p>
          <a:p>
            <a:r>
              <a:rPr lang="en-US" dirty="0"/>
              <a:t> Next time user says: “Book a flight to Delhi”</a:t>
            </a:r>
            <a:br>
              <a:rPr lang="en-US" dirty="0"/>
            </a:br>
            <a:r>
              <a:rPr lang="en-US" dirty="0"/>
              <a:t>Agent automatically uses long-term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470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E2A0-FF6E-304F-ADD9-19DEE4D9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Episodic Memory (Experience Memory)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3C317-D591-020B-94AF-C38D82699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Meaning:</a:t>
            </a:r>
            <a:r>
              <a:rPr lang="en-US" dirty="0"/>
              <a:t> Memory of </a:t>
            </a:r>
            <a:r>
              <a:rPr lang="en-US" b="1" dirty="0"/>
              <a:t>past events/tasks</a:t>
            </a:r>
            <a:r>
              <a:rPr lang="en-US" dirty="0"/>
              <a:t> (like a timeline of experiences).</a:t>
            </a:r>
          </a:p>
          <a:p>
            <a:br>
              <a:rPr lang="en-US" dirty="0"/>
            </a:br>
            <a:r>
              <a:rPr lang="en-US" b="1" dirty="0"/>
              <a:t>Stored for:</a:t>
            </a:r>
            <a:r>
              <a:rPr lang="en-US" dirty="0"/>
              <a:t> Long time, but stored as </a:t>
            </a:r>
            <a:r>
              <a:rPr lang="en-US" b="1" dirty="0"/>
              <a:t>episodes</a:t>
            </a:r>
            <a:r>
              <a:rPr lang="en-US" dirty="0"/>
              <a:t> (situations + actions + outcomes).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Used for:</a:t>
            </a:r>
            <a:r>
              <a:rPr lang="en-US" dirty="0"/>
              <a:t> Learning from past interactions.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Example Episode</a:t>
            </a:r>
          </a:p>
          <a:p>
            <a:r>
              <a:rPr lang="en-US" dirty="0"/>
              <a:t>Episode saved:</a:t>
            </a:r>
          </a:p>
          <a:p>
            <a:r>
              <a:rPr lang="en-US" dirty="0"/>
              <a:t>Task: “Book hotel in Bangalore”</a:t>
            </a:r>
          </a:p>
          <a:p>
            <a:r>
              <a:rPr lang="en-US" dirty="0"/>
              <a:t>Tool used: Booking API</a:t>
            </a:r>
          </a:p>
          <a:p>
            <a:r>
              <a:rPr lang="en-US" dirty="0"/>
              <a:t>Result: Success</a:t>
            </a:r>
          </a:p>
          <a:p>
            <a:r>
              <a:rPr lang="en-US" dirty="0"/>
              <a:t>Problem: Payment failed first time → fixed by retrying with UPI</a:t>
            </a:r>
          </a:p>
          <a:p>
            <a:r>
              <a:rPr lang="en-US" dirty="0"/>
              <a:t> Next time similar payment issue happens, agent remembers:</a:t>
            </a:r>
            <a:br>
              <a:rPr lang="en-US" dirty="0"/>
            </a:br>
            <a:r>
              <a:rPr lang="en-US" dirty="0"/>
              <a:t>“Retry with UPI works”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740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9DD163-B75A-620A-EF17-27B2BC081151}"/>
              </a:ext>
            </a:extLst>
          </p:cNvPr>
          <p:cNvSpPr txBox="1"/>
          <p:nvPr/>
        </p:nvSpPr>
        <p:spPr>
          <a:xfrm>
            <a:off x="2882646" y="22681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LangGraph</a:t>
            </a:r>
            <a:r>
              <a:rPr lang="en-US" b="1" dirty="0"/>
              <a:t> </a:t>
            </a:r>
            <a:r>
              <a:rPr lang="en-US" b="1" dirty="0" err="1"/>
              <a:t>ReAct</a:t>
            </a:r>
            <a:r>
              <a:rPr lang="en-US" b="1" dirty="0"/>
              <a:t> Agent with </a:t>
            </a:r>
            <a:r>
              <a:rPr lang="en-US" b="1" dirty="0" err="1"/>
              <a:t>Groq</a:t>
            </a:r>
            <a:r>
              <a:rPr lang="en-US" b="1" dirty="0"/>
              <a:t> + Tool + FAISS memory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766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9835-99A5-C73D-38D8-9D562345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Agent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4208B-7886-1014-BF8D-BCE396255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289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1654</Words>
  <Application>Microsoft Office PowerPoint</Application>
  <PresentationFormat>Widescreen</PresentationFormat>
  <Paragraphs>355</Paragraphs>
  <Slides>26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Consolas</vt:lpstr>
      <vt:lpstr>Office Theme</vt:lpstr>
      <vt:lpstr>Agentic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ReAct</vt:lpstr>
      <vt:lpstr>ReAct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ReAct Works Better Than Alternatives </vt:lpstr>
      <vt:lpstr>Common Pitfalls &amp; How to Handle Them </vt:lpstr>
      <vt:lpstr>Short-term Memory (Working Memory) </vt:lpstr>
      <vt:lpstr>Long-term Memory (Persistent Memory)</vt:lpstr>
      <vt:lpstr>Episodic Memory (Experience Memory)</vt:lpstr>
      <vt:lpstr>PowerPoint Presentation</vt:lpstr>
      <vt:lpstr>RAG Agent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Palani Karthikeyan</dc:creator>
  <cp:lastModifiedBy>Palani Karthikeyan</cp:lastModifiedBy>
  <cp:revision>7</cp:revision>
  <dcterms:created xsi:type="dcterms:W3CDTF">2026-02-02T12:43:50Z</dcterms:created>
  <dcterms:modified xsi:type="dcterms:W3CDTF">2026-02-05T13:39:43Z</dcterms:modified>
</cp:coreProperties>
</file>